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0A0A"/>
                </a:solidFill>
                <a:latin typeface="Arial"/>
              </a:defRPr>
            </a:pPr>
            <a:r>
              <a:rPr sz="1300" b="0" i="0" u="none" strike="noStrike">
                <a:solidFill>
                  <a:srgbClr val="0A0A0A"/>
                </a:solidFill>
                <a:latin typeface="Arial"/>
              </a:rPr>
              <a:t>Avg. Score (1–5) per Scenario</a:t>
            </a:r>
          </a:p>
        </c:rich>
      </c:tx>
      <c:layout/>
      <c:overlay val="0"/>
    </c:title>
    <c:autoTitleDeleted val="0"/>
    <c:plotArea>
      <c:layout/>
      <c:barChart>
        <c:barDir val="col"/>
        <c:grouping val="clustered"/>
        <c:varyColors val="0"/>
        <c:ser>
          <c:idx val="0"/>
          <c:order val="0"/>
          <c:tx>
            <c:strRef>
              <c:f>Sheet1!$B$1</c:f>
              <c:strCache>
                <c:ptCount val="1"/>
                <c:pt idx="0">
                  <c:v>Naïve Prompt</c:v>
                </c:pt>
              </c:strCache>
            </c:strRef>
          </c:tx>
          <c:spPr>
            <a:solidFill>
              <a:srgbClr val="FF1A1A"/>
            </a:solidFill>
            <a:effectLst/>
          </c:spPr>
          <c:invertIfNegative val="0"/>
          <c:dLbls>
            <c:numFmt formatCode="#,##0" sourceLinked="0"/>
            <c:txPr>
              <a:bodyPr/>
              <a:lstStyle/>
              <a:p>
                <a:pPr>
                  <a:defRPr b="0" i="0" strike="noStrike" sz="1000" u="none">
                    <a:solidFill>
                      <a:srgbClr val="263238"/>
                    </a:solidFill>
                    <a:latin typeface="Arial"/>
                  </a:defRPr>
                </a:pPr>
              </a:p>
            </c:txPr>
            <c:showLegendKey val="0"/>
            <c:showVal val="1"/>
            <c:showCatName val="0"/>
            <c:showSerName val="0"/>
            <c:showPercent val="0"/>
            <c:showBubbleSize val="0"/>
            <c:showLeaderLines val="0"/>
          </c:dLbls>
          <c:cat>
            <c:multiLvlStrRef>
              <c:f>Sheet1!$A$2:$A$6</c:f>
              <c:multiLvlStrCache>
                <c:ptCount val="5"/>
                <c:lvl>
                  <c:pt idx="0">
                    <c:v>Creative
Story</c:v>
                  </c:pt>
                  <c:pt idx="1">
                    <c:v>Factual
Q&amp;A</c:v>
                  </c:pt>
                  <c:pt idx="2">
                    <c:v>Summarisation</c:v>
                  </c:pt>
                  <c:pt idx="3">
                    <c:v>Advice</c:v>
                  </c:pt>
                  <c:pt idx="4">
                    <c:v>Technical</c:v>
                  </c:pt>
                </c:lvl>
              </c:multiLvlStrCache>
            </c:multiLvlStrRef>
          </c:cat>
          <c:val>
            <c:numRef>
              <c:f>Sheet1!$B$2:$B$6</c:f>
              <c:numCache>
                <c:formatCode>General</c:formatCode>
                <c:ptCount val="5"/>
                <c:pt idx="0">
                  <c:v>1.67</c:v>
                </c:pt>
                <c:pt idx="1">
                  <c:v>2</c:v>
                </c:pt>
                <c:pt idx="2">
                  <c:v>2</c:v>
                </c:pt>
                <c:pt idx="3">
                  <c:v>1.67</c:v>
                </c:pt>
                <c:pt idx="4">
                  <c:v>2</c:v>
                </c:pt>
              </c:numCache>
            </c:numRef>
          </c:val>
        </c:ser>
        <c:ser>
          <c:idx val="1"/>
          <c:order val="1"/>
          <c:tx>
            <c:strRef>
              <c:f>Sheet1!$C$1</c:f>
              <c:strCache>
                <c:ptCount val="1"/>
                <c:pt idx="0">
                  <c:v>Basic Prompt</c:v>
                </c:pt>
              </c:strCache>
            </c:strRef>
          </c:tx>
          <c:spPr>
            <a:solidFill>
              <a:srgbClr val="990000"/>
            </a:solidFill>
            <a:effectLst/>
          </c:spPr>
          <c:invertIfNegative val="0"/>
          <c:dLbls>
            <c:numFmt formatCode="#,##0" sourceLinked="0"/>
            <c:txPr>
              <a:bodyPr/>
              <a:lstStyle/>
              <a:p>
                <a:pPr>
                  <a:defRPr b="0" i="0" strike="noStrike" sz="1000" u="none">
                    <a:solidFill>
                      <a:srgbClr val="263238"/>
                    </a:solidFill>
                    <a:latin typeface="Arial"/>
                  </a:defRPr>
                </a:pPr>
              </a:p>
            </c:txPr>
            <c:showLegendKey val="0"/>
            <c:showVal val="1"/>
            <c:showCatName val="0"/>
            <c:showSerName val="0"/>
            <c:showPercent val="0"/>
            <c:showBubbleSize val="0"/>
            <c:showLeaderLines val="0"/>
          </c:dLbls>
          <c:cat>
            <c:multiLvlStrRef>
              <c:f>Sheet1!$A$2:$A$6</c:f>
              <c:multiLvlStrCache>
                <c:ptCount val="5"/>
                <c:lvl>
                  <c:pt idx="0">
                    <c:v>Creative
Story</c:v>
                  </c:pt>
                  <c:pt idx="1">
                    <c:v>Factual
Q&amp;A</c:v>
                  </c:pt>
                  <c:pt idx="2">
                    <c:v>Summarisation</c:v>
                  </c:pt>
                  <c:pt idx="3">
                    <c:v>Advice</c:v>
                  </c:pt>
                  <c:pt idx="4">
                    <c:v>Technical</c:v>
                  </c:pt>
                </c:lvl>
              </c:multiLvlStrCache>
            </c:multiLvlStrRef>
          </c:cat>
          <c:val>
            <c:numRef>
              <c:f>Sheet1!$C$2:$C$6</c:f>
              <c:numCache>
                <c:formatCode>General</c:formatCode>
                <c:ptCount val="5"/>
                <c:pt idx="0">
                  <c:v>5</c:v>
                </c:pt>
                <c:pt idx="1">
                  <c:v>5</c:v>
                </c:pt>
                <c:pt idx="2">
                  <c:v>5</c:v>
                </c:pt>
                <c:pt idx="3">
                  <c:v>5</c:v>
                </c:pt>
                <c:pt idx="4">
                  <c:v>5</c:v>
                </c:pt>
              </c:numCache>
            </c:numRef>
          </c:val>
        </c:ser>
        <c:dLbls>
          <c:numFmt formatCode="#,##0" sourceLinked="0"/>
          <c:txPr>
            <a:bodyPr/>
            <a:lstStyle/>
            <a:p>
              <a:pPr>
                <a:defRPr b="0" i="0" strike="noStrike" sz="1000" u="none">
                  <a:solidFill>
                    <a:srgbClr val="2632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74F"/>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CEF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7474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2020"/>
          </a:solidFill>
          <a:ln w="12700">
            <a:solidFill>
              <a:srgbClr val="FF2020"/>
            </a:solidFill>
            <a:prstDash val="solid"/>
          </a:ln>
        </p:spPr>
      </p:sp>
      <p:sp>
        <p:nvSpPr>
          <p:cNvPr id="3" name="Shape 1"/>
          <p:cNvSpPr/>
          <p:nvPr/>
        </p:nvSpPr>
        <p:spPr>
          <a:xfrm>
            <a:off x="6858000" y="-731520"/>
            <a:ext cx="4114800" cy="4114800"/>
          </a:xfrm>
          <a:prstGeom prst="ellipse">
            <a:avLst/>
          </a:prstGeom>
          <a:solidFill>
            <a:srgbClr val="B00010">
              <a:alpha val="30000"/>
            </a:srgbClr>
          </a:solidFill>
          <a:ln w="12700">
            <a:solidFill>
              <a:srgbClr val="B00010"/>
            </a:solidFill>
            <a:prstDash val="solid"/>
          </a:ln>
        </p:spPr>
      </p:sp>
      <p:sp>
        <p:nvSpPr>
          <p:cNvPr id="4" name="Shape 2"/>
          <p:cNvSpPr/>
          <p:nvPr/>
        </p:nvSpPr>
        <p:spPr>
          <a:xfrm>
            <a:off x="502920" y="457200"/>
            <a:ext cx="2194560" cy="384048"/>
          </a:xfrm>
          <a:prstGeom prst="roundRect">
            <a:avLst>
              <a:gd name="adj" fmla="val 14286"/>
            </a:avLst>
          </a:prstGeom>
          <a:solidFill>
            <a:srgbClr val="FF2020"/>
          </a:solidFill>
          <a:ln w="12700">
            <a:solidFill>
              <a:srgbClr val="FF2020"/>
            </a:solidFill>
            <a:prstDash val="solid"/>
          </a:ln>
        </p:spPr>
      </p:sp>
      <p:sp>
        <p:nvSpPr>
          <p:cNvPr id="5" name="Text 3"/>
          <p:cNvSpPr/>
          <p:nvPr/>
        </p:nvSpPr>
        <p:spPr>
          <a:xfrm>
            <a:off x="502920" y="457200"/>
            <a:ext cx="2194560" cy="384048"/>
          </a:xfrm>
          <a:prstGeom prst="rect">
            <a:avLst/>
          </a:prstGeom>
          <a:noFill/>
          <a:ln/>
        </p:spPr>
        <p:txBody>
          <a:bodyPr wrap="square" lIns="0" tIns="0" rIns="0" bIns="0" rtlCol="0" anchor="ctr"/>
          <a:lstStyle/>
          <a:p>
            <a:pPr algn="ctr" indent="0" marL="0">
              <a:buNone/>
            </a:pPr>
            <a:r>
              <a:rPr lang="en-US" sz="1100" b="1" dirty="0">
                <a:solidFill>
                  <a:srgbClr val="0A0A0A"/>
                </a:solidFill>
              </a:rPr>
              <a:t>EXPERIMENT 5</a:t>
            </a:r>
            <a:endParaRPr lang="en-US" sz="1100" dirty="0"/>
          </a:p>
        </p:txBody>
      </p:sp>
      <p:sp>
        <p:nvSpPr>
          <p:cNvPr id="6" name="Text 4"/>
          <p:cNvSpPr/>
          <p:nvPr/>
        </p:nvSpPr>
        <p:spPr>
          <a:xfrm>
            <a:off x="365760" y="1005840"/>
            <a:ext cx="7772400" cy="594360"/>
          </a:xfrm>
          <a:prstGeom prst="rect">
            <a:avLst/>
          </a:prstGeom>
          <a:noFill/>
          <a:ln/>
        </p:spPr>
        <p:txBody>
          <a:bodyPr wrap="square" rtlCol="0" anchor="ctr"/>
          <a:lstStyle/>
          <a:p>
            <a:pPr indent="0" marL="0">
              <a:buNone/>
            </a:pPr>
            <a:r>
              <a:rPr lang="en-US" sz="3400" dirty="0">
                <a:solidFill>
                  <a:srgbClr val="FFD0D0"/>
                </a:solidFill>
                <a:latin typeface="Calibri" pitchFamily="34" charset="0"/>
                <a:ea typeface="Calibri" pitchFamily="34" charset="-122"/>
                <a:cs typeface="Calibri" pitchFamily="34" charset="-120"/>
              </a:rPr>
              <a:t>Comparative Analysis of</a:t>
            </a:r>
            <a:endParaRPr lang="en-US" sz="3400" dirty="0"/>
          </a:p>
        </p:txBody>
      </p:sp>
      <p:sp>
        <p:nvSpPr>
          <p:cNvPr id="7" name="Text 5"/>
          <p:cNvSpPr/>
          <p:nvPr/>
        </p:nvSpPr>
        <p:spPr>
          <a:xfrm>
            <a:off x="365760" y="1572768"/>
            <a:ext cx="7772400" cy="6858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Prompting Patterns</a:t>
            </a:r>
            <a:endParaRPr lang="en-US" sz="4400" dirty="0"/>
          </a:p>
        </p:txBody>
      </p:sp>
      <p:sp>
        <p:nvSpPr>
          <p:cNvPr id="8" name="Shape 6"/>
          <p:cNvSpPr/>
          <p:nvPr/>
        </p:nvSpPr>
        <p:spPr>
          <a:xfrm>
            <a:off x="365760" y="2359152"/>
            <a:ext cx="5029200" cy="0"/>
          </a:xfrm>
          <a:prstGeom prst="line">
            <a:avLst/>
          </a:prstGeom>
          <a:noFill/>
          <a:ln w="31750">
            <a:solidFill>
              <a:srgbClr val="FF2020"/>
            </a:solidFill>
            <a:prstDash val="solid"/>
          </a:ln>
        </p:spPr>
      </p:sp>
      <p:sp>
        <p:nvSpPr>
          <p:cNvPr id="9" name="Text 7"/>
          <p:cNvSpPr/>
          <p:nvPr/>
        </p:nvSpPr>
        <p:spPr>
          <a:xfrm>
            <a:off x="365760" y="2514600"/>
            <a:ext cx="8046720" cy="457200"/>
          </a:xfrm>
          <a:prstGeom prst="rect">
            <a:avLst/>
          </a:prstGeom>
          <a:noFill/>
          <a:ln/>
        </p:spPr>
        <p:txBody>
          <a:bodyPr wrap="square" rtlCol="0" anchor="ctr"/>
          <a:lstStyle/>
          <a:p>
            <a:pPr indent="0" marL="0">
              <a:buNone/>
            </a:pPr>
            <a:r>
              <a:rPr lang="en-US" sz="1500" dirty="0">
                <a:solidFill>
                  <a:srgbClr val="FFD0D0"/>
                </a:solidFill>
                <a:latin typeface="Calibri" pitchFamily="34" charset="0"/>
                <a:ea typeface="Calibri" pitchFamily="34" charset="-122"/>
                <a:cs typeface="Calibri" pitchFamily="34" charset="-120"/>
              </a:rPr>
              <a:t>Naïve vs. Basic Prompting — Response Quality Across Multiple Scenarios</a:t>
            </a:r>
            <a:endParaRPr lang="en-US" sz="1500" dirty="0"/>
          </a:p>
        </p:txBody>
      </p:sp>
      <p:sp>
        <p:nvSpPr>
          <p:cNvPr id="10" name="Text 8"/>
          <p:cNvSpPr/>
          <p:nvPr/>
        </p:nvSpPr>
        <p:spPr>
          <a:xfrm>
            <a:off x="365760" y="4160520"/>
            <a:ext cx="8412480" cy="347472"/>
          </a:xfrm>
          <a:prstGeom prst="rect">
            <a:avLst/>
          </a:prstGeom>
          <a:noFill/>
          <a:ln/>
        </p:spPr>
        <p:txBody>
          <a:bodyPr wrap="square" rtlCol="0" anchor="ctr"/>
          <a:lstStyle/>
          <a:p>
            <a:pPr indent="0" marL="0">
              <a:buNone/>
            </a:pPr>
            <a:r>
              <a:rPr lang="en-US" sz="1300" b="1" dirty="0">
                <a:solidFill>
                  <a:srgbClr val="FF2020"/>
                </a:solidFill>
                <a:latin typeface="Calibri" pitchFamily="34" charset="0"/>
                <a:ea typeface="Calibri" pitchFamily="34" charset="-122"/>
                <a:cs typeface="Calibri" pitchFamily="34" charset="-120"/>
              </a:rPr>
              <a:t xml:space="preserve">Name: </a:t>
            </a:r>
            <a:pPr indent="0" marL="0">
              <a:buNone/>
            </a:pPr>
            <a:r>
              <a:rPr lang="en-US" sz="1300" dirty="0">
                <a:solidFill>
                  <a:srgbClr val="FFFFFF"/>
                </a:solidFill>
                <a:latin typeface="Calibri" pitchFamily="34" charset="0"/>
                <a:ea typeface="Calibri" pitchFamily="34" charset="-122"/>
                <a:cs typeface="Calibri" pitchFamily="34" charset="-120"/>
              </a:rPr>
              <a:t xml:space="preserve">NAVEEN.V  </a:t>
            </a:r>
            <a:pPr indent="0" marL="0">
              <a:buNone/>
            </a:pPr>
            <a:r>
              <a:rPr lang="en-US" sz="1300" dirty="0">
                <a:solidFill>
                  <a:srgbClr val="666666"/>
                </a:solidFill>
                <a:latin typeface="Calibri" pitchFamily="34" charset="0"/>
                <a:ea typeface="Calibri" pitchFamily="34" charset="-122"/>
                <a:cs typeface="Calibri" pitchFamily="34" charset="-120"/>
              </a:rPr>
              <a:t xml:space="preserve">  |  </a:t>
            </a:r>
            <a:pPr indent="0" marL="0">
              <a:buNone/>
            </a:pPr>
            <a:r>
              <a:rPr lang="en-US" sz="1300" b="1" dirty="0">
                <a:solidFill>
                  <a:srgbClr val="FF2020"/>
                </a:solidFill>
                <a:latin typeface="Calibri" pitchFamily="34" charset="0"/>
                <a:ea typeface="Calibri" pitchFamily="34" charset="-122"/>
                <a:cs typeface="Calibri" pitchFamily="34" charset="-120"/>
              </a:rPr>
              <a:t xml:space="preserve">Ref No: </a:t>
            </a:r>
            <a:pPr indent="0" marL="0">
              <a:buNone/>
            </a:pPr>
            <a:r>
              <a:rPr lang="en-US" sz="1300" dirty="0">
                <a:solidFill>
                  <a:srgbClr val="FFFFFF"/>
                </a:solidFill>
                <a:latin typeface="Calibri" pitchFamily="34" charset="0"/>
                <a:ea typeface="Calibri" pitchFamily="34" charset="-122"/>
                <a:cs typeface="Calibri" pitchFamily="34" charset="-120"/>
              </a:rPr>
              <a:t>212225060181</a:t>
            </a:r>
            <a:endParaRPr lang="en-US" sz="1300" dirty="0"/>
          </a:p>
        </p:txBody>
      </p:sp>
      <p:sp>
        <p:nvSpPr>
          <p:cNvPr id="11" name="Text 9"/>
          <p:cNvSpPr/>
          <p:nvPr/>
        </p:nvSpPr>
        <p:spPr>
          <a:xfrm>
            <a:off x="365760" y="4526280"/>
            <a:ext cx="8412480" cy="347472"/>
          </a:xfrm>
          <a:prstGeom prst="rect">
            <a:avLst/>
          </a:prstGeom>
          <a:noFill/>
          <a:ln/>
        </p:spPr>
        <p:txBody>
          <a:bodyPr wrap="square" rtlCol="0" anchor="ctr"/>
          <a:lstStyle/>
          <a:p>
            <a:pPr indent="0" marL="0">
              <a:buNone/>
            </a:pPr>
            <a:r>
              <a:rPr lang="en-US" sz="1150" b="1" dirty="0">
                <a:solidFill>
                  <a:srgbClr val="FF2020"/>
                </a:solidFill>
                <a:latin typeface="Calibri" pitchFamily="34" charset="0"/>
                <a:ea typeface="Calibri" pitchFamily="34" charset="-122"/>
                <a:cs typeface="Calibri" pitchFamily="34" charset="-120"/>
              </a:rPr>
              <a:t xml:space="preserve">ChatGPT (GPT-4o)  </a:t>
            </a:r>
            <a:pPr indent="0" marL="0">
              <a:buNone/>
            </a:pPr>
            <a:r>
              <a:rPr lang="en-US" sz="1150" dirty="0">
                <a:solidFill>
                  <a:srgbClr val="AAAAAA"/>
                </a:solidFill>
                <a:latin typeface="Calibri" pitchFamily="34" charset="0"/>
                <a:ea typeface="Calibri" pitchFamily="34" charset="-122"/>
                <a:cs typeface="Calibri" pitchFamily="34" charset="-120"/>
              </a:rPr>
              <a:t xml:space="preserve"> |  Quality · Accuracy · Depth Analysis</a:t>
            </a:r>
            <a:endParaRPr lang="en-US" sz="1150" dirty="0"/>
          </a:p>
        </p:txBody>
      </p:sp>
      <p:sp>
        <p:nvSpPr>
          <p:cNvPr id="12" name="Shape 10"/>
          <p:cNvSpPr/>
          <p:nvPr/>
        </p:nvSpPr>
        <p:spPr>
          <a:xfrm>
            <a:off x="6949440" y="2286000"/>
            <a:ext cx="164592" cy="164592"/>
          </a:xfrm>
          <a:prstGeom prst="ellipse">
            <a:avLst/>
          </a:prstGeom>
          <a:solidFill>
            <a:srgbClr val="CC0018">
              <a:alpha val="35000"/>
            </a:srgbClr>
          </a:solidFill>
          <a:ln w="12700">
            <a:solidFill>
              <a:srgbClr val="CC0018"/>
            </a:solidFill>
            <a:prstDash val="solid"/>
          </a:ln>
        </p:spPr>
      </p:sp>
      <p:sp>
        <p:nvSpPr>
          <p:cNvPr id="13" name="Shape 11"/>
          <p:cNvSpPr/>
          <p:nvPr/>
        </p:nvSpPr>
        <p:spPr>
          <a:xfrm>
            <a:off x="7452360" y="2286000"/>
            <a:ext cx="164592" cy="164592"/>
          </a:xfrm>
          <a:prstGeom prst="ellipse">
            <a:avLst/>
          </a:prstGeom>
          <a:solidFill>
            <a:srgbClr val="CC0018">
              <a:alpha val="35000"/>
            </a:srgbClr>
          </a:solidFill>
          <a:ln w="12700">
            <a:solidFill>
              <a:srgbClr val="CC0018"/>
            </a:solidFill>
            <a:prstDash val="solid"/>
          </a:ln>
        </p:spPr>
      </p:sp>
      <p:sp>
        <p:nvSpPr>
          <p:cNvPr id="14" name="Shape 12"/>
          <p:cNvSpPr/>
          <p:nvPr/>
        </p:nvSpPr>
        <p:spPr>
          <a:xfrm>
            <a:off x="7955280" y="2286000"/>
            <a:ext cx="164592" cy="164592"/>
          </a:xfrm>
          <a:prstGeom prst="ellipse">
            <a:avLst/>
          </a:prstGeom>
          <a:solidFill>
            <a:srgbClr val="CC0018">
              <a:alpha val="35000"/>
            </a:srgbClr>
          </a:solidFill>
          <a:ln w="12700">
            <a:solidFill>
              <a:srgbClr val="CC0018"/>
            </a:solidFill>
            <a:prstDash val="solid"/>
          </a:ln>
        </p:spPr>
      </p:sp>
      <p:sp>
        <p:nvSpPr>
          <p:cNvPr id="15" name="Shape 13"/>
          <p:cNvSpPr/>
          <p:nvPr/>
        </p:nvSpPr>
        <p:spPr>
          <a:xfrm>
            <a:off x="8458200" y="2286000"/>
            <a:ext cx="164592" cy="164592"/>
          </a:xfrm>
          <a:prstGeom prst="ellipse">
            <a:avLst/>
          </a:prstGeom>
          <a:solidFill>
            <a:srgbClr val="CC0018">
              <a:alpha val="35000"/>
            </a:srgbClr>
          </a:solidFill>
          <a:ln w="12700">
            <a:solidFill>
              <a:srgbClr val="CC0018"/>
            </a:solidFill>
            <a:prstDash val="solid"/>
          </a:ln>
        </p:spPr>
      </p:sp>
      <p:sp>
        <p:nvSpPr>
          <p:cNvPr id="16" name="Shape 14"/>
          <p:cNvSpPr/>
          <p:nvPr/>
        </p:nvSpPr>
        <p:spPr>
          <a:xfrm>
            <a:off x="6949440" y="2788920"/>
            <a:ext cx="164592" cy="164592"/>
          </a:xfrm>
          <a:prstGeom prst="ellipse">
            <a:avLst/>
          </a:prstGeom>
          <a:solidFill>
            <a:srgbClr val="CC0018">
              <a:alpha val="35000"/>
            </a:srgbClr>
          </a:solidFill>
          <a:ln w="12700">
            <a:solidFill>
              <a:srgbClr val="CC0018"/>
            </a:solidFill>
            <a:prstDash val="solid"/>
          </a:ln>
        </p:spPr>
      </p:sp>
      <p:sp>
        <p:nvSpPr>
          <p:cNvPr id="17" name="Shape 15"/>
          <p:cNvSpPr/>
          <p:nvPr/>
        </p:nvSpPr>
        <p:spPr>
          <a:xfrm>
            <a:off x="7452360" y="2788920"/>
            <a:ext cx="164592" cy="164592"/>
          </a:xfrm>
          <a:prstGeom prst="ellipse">
            <a:avLst/>
          </a:prstGeom>
          <a:solidFill>
            <a:srgbClr val="CC0018">
              <a:alpha val="35000"/>
            </a:srgbClr>
          </a:solidFill>
          <a:ln w="12700">
            <a:solidFill>
              <a:srgbClr val="CC0018"/>
            </a:solidFill>
            <a:prstDash val="solid"/>
          </a:ln>
        </p:spPr>
      </p:sp>
      <p:sp>
        <p:nvSpPr>
          <p:cNvPr id="18" name="Shape 16"/>
          <p:cNvSpPr/>
          <p:nvPr/>
        </p:nvSpPr>
        <p:spPr>
          <a:xfrm>
            <a:off x="7955280" y="2788920"/>
            <a:ext cx="164592" cy="164592"/>
          </a:xfrm>
          <a:prstGeom prst="ellipse">
            <a:avLst/>
          </a:prstGeom>
          <a:solidFill>
            <a:srgbClr val="CC0018">
              <a:alpha val="35000"/>
            </a:srgbClr>
          </a:solidFill>
          <a:ln w="12700">
            <a:solidFill>
              <a:srgbClr val="CC0018"/>
            </a:solidFill>
            <a:prstDash val="solid"/>
          </a:ln>
        </p:spPr>
      </p:sp>
      <p:sp>
        <p:nvSpPr>
          <p:cNvPr id="19" name="Shape 17"/>
          <p:cNvSpPr/>
          <p:nvPr/>
        </p:nvSpPr>
        <p:spPr>
          <a:xfrm>
            <a:off x="8458200" y="2788920"/>
            <a:ext cx="164592" cy="164592"/>
          </a:xfrm>
          <a:prstGeom prst="ellipse">
            <a:avLst/>
          </a:prstGeom>
          <a:solidFill>
            <a:srgbClr val="CC0018">
              <a:alpha val="35000"/>
            </a:srgbClr>
          </a:solidFill>
          <a:ln w="12700">
            <a:solidFill>
              <a:srgbClr val="CC0018"/>
            </a:solidFill>
            <a:prstDash val="solid"/>
          </a:ln>
        </p:spPr>
      </p:sp>
      <p:sp>
        <p:nvSpPr>
          <p:cNvPr id="20" name="Shape 18"/>
          <p:cNvSpPr/>
          <p:nvPr/>
        </p:nvSpPr>
        <p:spPr>
          <a:xfrm>
            <a:off x="6949440" y="3291840"/>
            <a:ext cx="164592" cy="164592"/>
          </a:xfrm>
          <a:prstGeom prst="ellipse">
            <a:avLst/>
          </a:prstGeom>
          <a:solidFill>
            <a:srgbClr val="CC0018">
              <a:alpha val="35000"/>
            </a:srgbClr>
          </a:solidFill>
          <a:ln w="12700">
            <a:solidFill>
              <a:srgbClr val="CC0018"/>
            </a:solidFill>
            <a:prstDash val="solid"/>
          </a:ln>
        </p:spPr>
      </p:sp>
      <p:sp>
        <p:nvSpPr>
          <p:cNvPr id="21" name="Shape 19"/>
          <p:cNvSpPr/>
          <p:nvPr/>
        </p:nvSpPr>
        <p:spPr>
          <a:xfrm>
            <a:off x="7452360" y="3291840"/>
            <a:ext cx="164592" cy="164592"/>
          </a:xfrm>
          <a:prstGeom prst="ellipse">
            <a:avLst/>
          </a:prstGeom>
          <a:solidFill>
            <a:srgbClr val="CC0018">
              <a:alpha val="35000"/>
            </a:srgbClr>
          </a:solidFill>
          <a:ln w="12700">
            <a:solidFill>
              <a:srgbClr val="CC0018"/>
            </a:solidFill>
            <a:prstDash val="solid"/>
          </a:ln>
        </p:spPr>
      </p:sp>
      <p:sp>
        <p:nvSpPr>
          <p:cNvPr id="22" name="Shape 20"/>
          <p:cNvSpPr/>
          <p:nvPr/>
        </p:nvSpPr>
        <p:spPr>
          <a:xfrm>
            <a:off x="7955280" y="3291840"/>
            <a:ext cx="164592" cy="164592"/>
          </a:xfrm>
          <a:prstGeom prst="ellipse">
            <a:avLst/>
          </a:prstGeom>
          <a:solidFill>
            <a:srgbClr val="CC0018">
              <a:alpha val="35000"/>
            </a:srgbClr>
          </a:solidFill>
          <a:ln w="12700">
            <a:solidFill>
              <a:srgbClr val="CC0018"/>
            </a:solidFill>
            <a:prstDash val="solid"/>
          </a:ln>
        </p:spPr>
      </p:sp>
      <p:sp>
        <p:nvSpPr>
          <p:cNvPr id="23" name="Shape 21"/>
          <p:cNvSpPr/>
          <p:nvPr/>
        </p:nvSpPr>
        <p:spPr>
          <a:xfrm>
            <a:off x="8458200" y="3291840"/>
            <a:ext cx="164592" cy="164592"/>
          </a:xfrm>
          <a:prstGeom prst="ellipse">
            <a:avLst/>
          </a:prstGeom>
          <a:solidFill>
            <a:srgbClr val="CC0018">
              <a:alpha val="35000"/>
            </a:srgbClr>
          </a:solidFill>
          <a:ln w="12700">
            <a:solidFill>
              <a:srgbClr val="CC0018"/>
            </a:solidFill>
            <a:prstDash val="solid"/>
          </a:ln>
        </p:spPr>
      </p:sp>
      <p:sp>
        <p:nvSpPr>
          <p:cNvPr id="24" name="Shape 22"/>
          <p:cNvSpPr/>
          <p:nvPr/>
        </p:nvSpPr>
        <p:spPr>
          <a:xfrm>
            <a:off x="6949440" y="3794760"/>
            <a:ext cx="164592" cy="164592"/>
          </a:xfrm>
          <a:prstGeom prst="ellipse">
            <a:avLst/>
          </a:prstGeom>
          <a:solidFill>
            <a:srgbClr val="CC0018">
              <a:alpha val="35000"/>
            </a:srgbClr>
          </a:solidFill>
          <a:ln w="12700">
            <a:solidFill>
              <a:srgbClr val="CC0018"/>
            </a:solidFill>
            <a:prstDash val="solid"/>
          </a:ln>
        </p:spPr>
      </p:sp>
      <p:sp>
        <p:nvSpPr>
          <p:cNvPr id="25" name="Shape 23"/>
          <p:cNvSpPr/>
          <p:nvPr/>
        </p:nvSpPr>
        <p:spPr>
          <a:xfrm>
            <a:off x="7452360" y="3794760"/>
            <a:ext cx="164592" cy="164592"/>
          </a:xfrm>
          <a:prstGeom prst="ellipse">
            <a:avLst/>
          </a:prstGeom>
          <a:solidFill>
            <a:srgbClr val="CC0018">
              <a:alpha val="35000"/>
            </a:srgbClr>
          </a:solidFill>
          <a:ln w="12700">
            <a:solidFill>
              <a:srgbClr val="CC0018"/>
            </a:solidFill>
            <a:prstDash val="solid"/>
          </a:ln>
        </p:spPr>
      </p:sp>
      <p:sp>
        <p:nvSpPr>
          <p:cNvPr id="26" name="Shape 24"/>
          <p:cNvSpPr/>
          <p:nvPr/>
        </p:nvSpPr>
        <p:spPr>
          <a:xfrm>
            <a:off x="7955280" y="3794760"/>
            <a:ext cx="164592" cy="164592"/>
          </a:xfrm>
          <a:prstGeom prst="ellipse">
            <a:avLst/>
          </a:prstGeom>
          <a:solidFill>
            <a:srgbClr val="CC0018">
              <a:alpha val="35000"/>
            </a:srgbClr>
          </a:solidFill>
          <a:ln w="12700">
            <a:solidFill>
              <a:srgbClr val="CC0018"/>
            </a:solidFill>
            <a:prstDash val="solid"/>
          </a:ln>
        </p:spPr>
      </p:sp>
      <p:sp>
        <p:nvSpPr>
          <p:cNvPr id="27" name="Shape 25"/>
          <p:cNvSpPr/>
          <p:nvPr/>
        </p:nvSpPr>
        <p:spPr>
          <a:xfrm>
            <a:off x="8458200" y="3794760"/>
            <a:ext cx="164592" cy="164592"/>
          </a:xfrm>
          <a:prstGeom prst="ellipse">
            <a:avLst/>
          </a:prstGeom>
          <a:solidFill>
            <a:srgbClr val="CC0018">
              <a:alpha val="35000"/>
            </a:srgbClr>
          </a:solidFill>
          <a:ln w="12700">
            <a:solidFill>
              <a:srgbClr val="CC0018"/>
            </a:solidFill>
            <a:prstDash val="solid"/>
          </a:ln>
        </p:spPr>
      </p:sp>
      <p:sp>
        <p:nvSpPr>
          <p:cNvPr id="28" name="Shape 26"/>
          <p:cNvSpPr/>
          <p:nvPr/>
        </p:nvSpPr>
        <p:spPr>
          <a:xfrm>
            <a:off x="6949440" y="4297680"/>
            <a:ext cx="164592" cy="164592"/>
          </a:xfrm>
          <a:prstGeom prst="ellipse">
            <a:avLst/>
          </a:prstGeom>
          <a:solidFill>
            <a:srgbClr val="CC0018">
              <a:alpha val="35000"/>
            </a:srgbClr>
          </a:solidFill>
          <a:ln w="12700">
            <a:solidFill>
              <a:srgbClr val="CC0018"/>
            </a:solidFill>
            <a:prstDash val="solid"/>
          </a:ln>
        </p:spPr>
      </p:sp>
      <p:sp>
        <p:nvSpPr>
          <p:cNvPr id="29" name="Shape 27"/>
          <p:cNvSpPr/>
          <p:nvPr/>
        </p:nvSpPr>
        <p:spPr>
          <a:xfrm>
            <a:off x="7452360" y="4297680"/>
            <a:ext cx="164592" cy="164592"/>
          </a:xfrm>
          <a:prstGeom prst="ellipse">
            <a:avLst/>
          </a:prstGeom>
          <a:solidFill>
            <a:srgbClr val="CC0018">
              <a:alpha val="35000"/>
            </a:srgbClr>
          </a:solidFill>
          <a:ln w="12700">
            <a:solidFill>
              <a:srgbClr val="CC0018"/>
            </a:solidFill>
            <a:prstDash val="solid"/>
          </a:ln>
        </p:spPr>
      </p:sp>
      <p:sp>
        <p:nvSpPr>
          <p:cNvPr id="30" name="Shape 28"/>
          <p:cNvSpPr/>
          <p:nvPr/>
        </p:nvSpPr>
        <p:spPr>
          <a:xfrm>
            <a:off x="7955280" y="4297680"/>
            <a:ext cx="164592" cy="164592"/>
          </a:xfrm>
          <a:prstGeom prst="ellipse">
            <a:avLst/>
          </a:prstGeom>
          <a:solidFill>
            <a:srgbClr val="CC0018">
              <a:alpha val="35000"/>
            </a:srgbClr>
          </a:solidFill>
          <a:ln w="12700">
            <a:solidFill>
              <a:srgbClr val="CC0018"/>
            </a:solidFill>
            <a:prstDash val="solid"/>
          </a:ln>
        </p:spPr>
      </p:sp>
      <p:sp>
        <p:nvSpPr>
          <p:cNvPr id="31" name="Shape 29"/>
          <p:cNvSpPr/>
          <p:nvPr/>
        </p:nvSpPr>
        <p:spPr>
          <a:xfrm>
            <a:off x="8458200" y="4297680"/>
            <a:ext cx="164592" cy="164592"/>
          </a:xfrm>
          <a:prstGeom prst="ellipse">
            <a:avLst/>
          </a:prstGeom>
          <a:solidFill>
            <a:srgbClr val="CC0018">
              <a:alpha val="35000"/>
            </a:srgbClr>
          </a:solidFill>
          <a:ln w="12700">
            <a:solidFill>
              <a:srgbClr val="CC0018"/>
            </a:solidFill>
            <a:prstDash val="solid"/>
          </a:ln>
        </p:spPr>
      </p:sp>
      <p:sp>
        <p:nvSpPr>
          <p:cNvPr id="32" name="Shape 30"/>
          <p:cNvSpPr/>
          <p:nvPr/>
        </p:nvSpPr>
        <p:spPr>
          <a:xfrm>
            <a:off x="6949440" y="4800600"/>
            <a:ext cx="164592" cy="164592"/>
          </a:xfrm>
          <a:prstGeom prst="ellipse">
            <a:avLst/>
          </a:prstGeom>
          <a:solidFill>
            <a:srgbClr val="CC0018">
              <a:alpha val="35000"/>
            </a:srgbClr>
          </a:solidFill>
          <a:ln w="12700">
            <a:solidFill>
              <a:srgbClr val="CC0018"/>
            </a:solidFill>
            <a:prstDash val="solid"/>
          </a:ln>
        </p:spPr>
      </p:sp>
      <p:sp>
        <p:nvSpPr>
          <p:cNvPr id="33" name="Shape 31"/>
          <p:cNvSpPr/>
          <p:nvPr/>
        </p:nvSpPr>
        <p:spPr>
          <a:xfrm>
            <a:off x="7452360" y="4800600"/>
            <a:ext cx="164592" cy="164592"/>
          </a:xfrm>
          <a:prstGeom prst="ellipse">
            <a:avLst/>
          </a:prstGeom>
          <a:solidFill>
            <a:srgbClr val="CC0018">
              <a:alpha val="35000"/>
            </a:srgbClr>
          </a:solidFill>
          <a:ln w="12700">
            <a:solidFill>
              <a:srgbClr val="CC0018"/>
            </a:solidFill>
            <a:prstDash val="solid"/>
          </a:ln>
        </p:spPr>
      </p:sp>
      <p:sp>
        <p:nvSpPr>
          <p:cNvPr id="34" name="Shape 32"/>
          <p:cNvSpPr/>
          <p:nvPr/>
        </p:nvSpPr>
        <p:spPr>
          <a:xfrm>
            <a:off x="7955280" y="4800600"/>
            <a:ext cx="164592" cy="164592"/>
          </a:xfrm>
          <a:prstGeom prst="ellipse">
            <a:avLst/>
          </a:prstGeom>
          <a:solidFill>
            <a:srgbClr val="CC0018">
              <a:alpha val="35000"/>
            </a:srgbClr>
          </a:solidFill>
          <a:ln w="12700">
            <a:solidFill>
              <a:srgbClr val="CC0018"/>
            </a:solidFill>
            <a:prstDash val="solid"/>
          </a:ln>
        </p:spPr>
      </p:sp>
      <p:sp>
        <p:nvSpPr>
          <p:cNvPr id="35" name="Shape 33"/>
          <p:cNvSpPr/>
          <p:nvPr/>
        </p:nvSpPr>
        <p:spPr>
          <a:xfrm>
            <a:off x="8458200" y="4800600"/>
            <a:ext cx="164592" cy="164592"/>
          </a:xfrm>
          <a:prstGeom prst="ellipse">
            <a:avLst/>
          </a:prstGeom>
          <a:solidFill>
            <a:srgbClr val="CC0018">
              <a:alpha val="35000"/>
            </a:srgbClr>
          </a:solidFill>
          <a:ln w="12700">
            <a:solidFill>
              <a:srgbClr val="CC001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B00010"/>
          </a:solidFill>
          <a:ln w="12700">
            <a:solidFill>
              <a:srgbClr val="B00010"/>
            </a:solidFill>
            <a:prstDash val="solid"/>
          </a:ln>
        </p:spPr>
      </p:sp>
      <p:sp>
        <p:nvSpPr>
          <p:cNvPr id="3" name="Text 1"/>
          <p:cNvSpPr/>
          <p:nvPr/>
        </p:nvSpPr>
        <p:spPr>
          <a:xfrm>
            <a:off x="320040" y="0"/>
            <a:ext cx="8503920" cy="8229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Aim &amp; Methodology</a:t>
            </a:r>
            <a:endParaRPr lang="en-US" sz="2800" dirty="0"/>
          </a:p>
        </p:txBody>
      </p:sp>
      <p:sp>
        <p:nvSpPr>
          <p:cNvPr id="4" name="Shape 2"/>
          <p:cNvSpPr/>
          <p:nvPr/>
        </p:nvSpPr>
        <p:spPr>
          <a:xfrm>
            <a:off x="274320" y="960120"/>
            <a:ext cx="4023360" cy="3566160"/>
          </a:xfrm>
          <a:prstGeom prst="rect">
            <a:avLst/>
          </a:prstGeom>
          <a:solidFill>
            <a:srgbClr val="FFFFFF"/>
          </a:solidFill>
          <a:ln w="12700">
            <a:solidFill>
              <a:srgbClr val="D0E4FF"/>
            </a:solidFill>
            <a:prstDash val="solid"/>
          </a:ln>
          <a:effectLst>
            <a:outerShdw sx="100000" sy="100000" kx="0" ky="0" algn="bl" rotWithShape="0" blurRad="101600" dist="38100" dir="8100000">
              <a:srgbClr val="000000">
                <a:alpha val="13000"/>
              </a:srgbClr>
            </a:outerShdw>
          </a:effectLst>
        </p:spPr>
      </p:sp>
      <p:sp>
        <p:nvSpPr>
          <p:cNvPr id="5" name="Shape 3"/>
          <p:cNvSpPr/>
          <p:nvPr/>
        </p:nvSpPr>
        <p:spPr>
          <a:xfrm>
            <a:off x="274320" y="960120"/>
            <a:ext cx="4023360" cy="347472"/>
          </a:xfrm>
          <a:prstGeom prst="rect">
            <a:avLst/>
          </a:prstGeom>
          <a:solidFill>
            <a:srgbClr val="CC0018"/>
          </a:solidFill>
          <a:ln w="12700">
            <a:solidFill>
              <a:srgbClr val="CC0018"/>
            </a:solidFill>
            <a:prstDash val="solid"/>
          </a:ln>
        </p:spPr>
      </p:sp>
      <p:sp>
        <p:nvSpPr>
          <p:cNvPr id="6" name="Text 4"/>
          <p:cNvSpPr/>
          <p:nvPr/>
        </p:nvSpPr>
        <p:spPr>
          <a:xfrm>
            <a:off x="274320" y="960120"/>
            <a:ext cx="4023360" cy="347472"/>
          </a:xfrm>
          <a:prstGeom prst="rect">
            <a:avLst/>
          </a:prstGeom>
          <a:noFill/>
          <a:ln/>
        </p:spPr>
        <p:txBody>
          <a:bodyPr wrap="square" lIns="0" tIns="0" rIns="0" bIns="0" rtlCol="0" anchor="ctr"/>
          <a:lstStyle/>
          <a:p>
            <a:pPr algn="ctr" indent="0" marL="0">
              <a:buNone/>
            </a:pPr>
            <a:r>
              <a:rPr lang="en-US" sz="1400" b="1" dirty="0">
                <a:solidFill>
                  <a:srgbClr val="FFFFFF"/>
                </a:solidFill>
              </a:rPr>
              <a:t>AIM</a:t>
            </a:r>
            <a:endParaRPr lang="en-US" sz="1400" dirty="0"/>
          </a:p>
        </p:txBody>
      </p:sp>
      <p:sp>
        <p:nvSpPr>
          <p:cNvPr id="7" name="Text 5"/>
          <p:cNvSpPr/>
          <p:nvPr/>
        </p:nvSpPr>
        <p:spPr>
          <a:xfrm>
            <a:off x="411480" y="1417320"/>
            <a:ext cx="3749040" cy="2971800"/>
          </a:xfrm>
          <a:prstGeom prst="rect">
            <a:avLst/>
          </a:prstGeom>
          <a:noFill/>
          <a:ln/>
        </p:spPr>
        <p:txBody>
          <a:bodyPr wrap="square" rtlCol="0" anchor="ctr"/>
          <a:lstStyle/>
          <a:p>
            <a:pPr indent="0" marL="0">
              <a:buNone/>
            </a:pPr>
            <a:r>
              <a:rPr lang="en-US" sz="1350" dirty="0">
                <a:solidFill>
                  <a:srgbClr val="111111"/>
                </a:solidFill>
                <a:latin typeface="Calibri" pitchFamily="34" charset="0"/>
                <a:ea typeface="Calibri" pitchFamily="34" charset="-122"/>
                <a:cs typeface="Calibri" pitchFamily="34" charset="-120"/>
              </a:rPr>
              <a:t>To compare how ChatGPT (GPT-4o) responds to
</a:t>
            </a:r>
            <a:pPr indent="0" marL="0">
              <a:buNone/>
            </a:pPr>
            <a:r>
              <a:rPr lang="en-US" sz="1350" b="1" dirty="0">
                <a:solidFill>
                  <a:srgbClr val="B00010"/>
                </a:solidFill>
                <a:latin typeface="Calibri" pitchFamily="34" charset="0"/>
                <a:ea typeface="Calibri" pitchFamily="34" charset="-122"/>
                <a:cs typeface="Calibri" pitchFamily="34" charset="-120"/>
              </a:rPr>
              <a:t>Naïve Prompts</a:t>
            </a:r>
            <a:pPr indent="0" marL="0">
              <a:buNone/>
            </a:pPr>
            <a:r>
              <a:rPr lang="en-US" sz="1350" dirty="0">
                <a:solidFill>
                  <a:srgbClr val="111111"/>
                </a:solidFill>
                <a:latin typeface="Calibri" pitchFamily="34" charset="0"/>
                <a:ea typeface="Calibri" pitchFamily="34" charset="-122"/>
                <a:cs typeface="Calibri" pitchFamily="34" charset="-120"/>
              </a:rPr>
              <a:t xml:space="preserve"> (vague, unstructured) vs </a:t>
            </a:r>
            <a:pPr indent="0" marL="0">
              <a:buNone/>
            </a:pPr>
            <a:r>
              <a:rPr lang="en-US" sz="1350" b="1" dirty="0">
                <a:solidFill>
                  <a:srgbClr val="7A0000"/>
                </a:solidFill>
                <a:latin typeface="Calibri" pitchFamily="34" charset="0"/>
                <a:ea typeface="Calibri" pitchFamily="34" charset="-122"/>
                <a:cs typeface="Calibri" pitchFamily="34" charset="-120"/>
              </a:rPr>
              <a:t>Basic Prompts</a:t>
            </a:r>
            <a:pPr indent="0" marL="0">
              <a:buNone/>
            </a:pPr>
            <a:r>
              <a:rPr lang="en-US" sz="1350" dirty="0">
                <a:solidFill>
                  <a:srgbClr val="111111"/>
                </a:solidFill>
                <a:latin typeface="Calibri" pitchFamily="34" charset="0"/>
                <a:ea typeface="Calibri" pitchFamily="34" charset="-122"/>
                <a:cs typeface="Calibri" pitchFamily="34" charset="-120"/>
              </a:rPr>
              <a:t xml:space="preserve"> (clear, structured, role-defined) across five diverse scenarios.</a:t>
            </a:r>
            <a:endParaRPr lang="en-US" sz="1350" dirty="0"/>
          </a:p>
          <a:p>
            <a:pPr indent="0" marL="0">
              <a:buNone/>
            </a:pPr>
            <a:endParaRPr lang="en-US" sz="1350" dirty="0"/>
          </a:p>
          <a:p>
            <a:pPr indent="0" marL="0">
              <a:buNone/>
            </a:pPr>
            <a:r>
              <a:rPr lang="en-US" sz="1350" dirty="0">
                <a:solidFill>
                  <a:srgbClr val="111111"/>
                </a:solidFill>
                <a:latin typeface="Calibri" pitchFamily="34" charset="0"/>
                <a:ea typeface="Calibri" pitchFamily="34" charset="-122"/>
                <a:cs typeface="Calibri" pitchFamily="34" charset="-120"/>
              </a:rPr>
              <a:t xml:space="preserve">Objective: Measure differences in </a:t>
            </a:r>
            <a:endParaRPr lang="en-US" sz="1350" dirty="0"/>
          </a:p>
          <a:p>
            <a:pPr indent="0" marL="0">
              <a:buNone/>
            </a:pPr>
            <a:r>
              <a:rPr lang="en-US" sz="1350" b="1" dirty="0">
                <a:solidFill>
                  <a:srgbClr val="111111"/>
                </a:solidFill>
                <a:latin typeface="Calibri" pitchFamily="34" charset="0"/>
                <a:ea typeface="Calibri" pitchFamily="34" charset="-122"/>
                <a:cs typeface="Calibri" pitchFamily="34" charset="-120"/>
              </a:rPr>
              <a:t>Quality, Accuracy</a:t>
            </a:r>
            <a:pPr indent="0" marL="0">
              <a:buNone/>
            </a:pPr>
            <a:r>
              <a:rPr lang="en-US" sz="1350" dirty="0">
                <a:solidFill>
                  <a:srgbClr val="111111"/>
                </a:solidFill>
                <a:latin typeface="Calibri" pitchFamily="34" charset="0"/>
                <a:ea typeface="Calibri" pitchFamily="34" charset="-122"/>
                <a:cs typeface="Calibri" pitchFamily="34" charset="-120"/>
              </a:rPr>
              <a:t xml:space="preserve"> and </a:t>
            </a:r>
            <a:pPr indent="0" marL="0">
              <a:buNone/>
            </a:pPr>
            <a:r>
              <a:rPr lang="en-US" sz="1350" b="1" dirty="0">
                <a:solidFill>
                  <a:srgbClr val="111111"/>
                </a:solidFill>
                <a:latin typeface="Calibri" pitchFamily="34" charset="0"/>
                <a:ea typeface="Calibri" pitchFamily="34" charset="-122"/>
                <a:cs typeface="Calibri" pitchFamily="34" charset="-120"/>
              </a:rPr>
              <a:t>Depth</a:t>
            </a:r>
            <a:pPr indent="0" marL="0">
              <a:buNone/>
            </a:pPr>
            <a:r>
              <a:rPr lang="en-US" sz="1350" dirty="0">
                <a:solidFill>
                  <a:srgbClr val="111111"/>
                </a:solidFill>
                <a:latin typeface="Calibri" pitchFamily="34" charset="0"/>
                <a:ea typeface="Calibri" pitchFamily="34" charset="-122"/>
                <a:cs typeface="Calibri" pitchFamily="34" charset="-120"/>
              </a:rPr>
              <a:t xml:space="preserve"> of AI-generated outputs.</a:t>
            </a:r>
            <a:endParaRPr lang="en-US" sz="1350" dirty="0"/>
          </a:p>
        </p:txBody>
      </p:sp>
      <p:sp>
        <p:nvSpPr>
          <p:cNvPr id="8" name="Shape 6"/>
          <p:cNvSpPr/>
          <p:nvPr/>
        </p:nvSpPr>
        <p:spPr>
          <a:xfrm>
            <a:off x="4572000" y="960120"/>
            <a:ext cx="4297680" cy="3566160"/>
          </a:xfrm>
          <a:prstGeom prst="rect">
            <a:avLst/>
          </a:prstGeom>
          <a:solidFill>
            <a:srgbClr val="FFFFFF"/>
          </a:solidFill>
          <a:ln w="12700">
            <a:solidFill>
              <a:srgbClr val="D0E4FF"/>
            </a:solidFill>
            <a:prstDash val="solid"/>
          </a:ln>
          <a:effectLst>
            <a:outerShdw sx="100000" sy="100000" kx="0" ky="0" algn="bl" rotWithShape="0" blurRad="101600" dist="38100" dir="8100000">
              <a:srgbClr val="000000">
                <a:alpha val="13000"/>
              </a:srgbClr>
            </a:outerShdw>
          </a:effectLst>
        </p:spPr>
      </p:sp>
      <p:sp>
        <p:nvSpPr>
          <p:cNvPr id="9" name="Shape 7"/>
          <p:cNvSpPr/>
          <p:nvPr/>
        </p:nvSpPr>
        <p:spPr>
          <a:xfrm>
            <a:off x="4572000" y="960120"/>
            <a:ext cx="4297680" cy="347472"/>
          </a:xfrm>
          <a:prstGeom prst="rect">
            <a:avLst/>
          </a:prstGeom>
          <a:solidFill>
            <a:srgbClr val="0A0A0A"/>
          </a:solidFill>
          <a:ln w="12700">
            <a:solidFill>
              <a:srgbClr val="0A0A0A"/>
            </a:solidFill>
            <a:prstDash val="solid"/>
          </a:ln>
        </p:spPr>
      </p:sp>
      <p:sp>
        <p:nvSpPr>
          <p:cNvPr id="10" name="Text 8"/>
          <p:cNvSpPr/>
          <p:nvPr/>
        </p:nvSpPr>
        <p:spPr>
          <a:xfrm>
            <a:off x="4572000" y="960120"/>
            <a:ext cx="4297680" cy="347472"/>
          </a:xfrm>
          <a:prstGeom prst="rect">
            <a:avLst/>
          </a:prstGeom>
          <a:noFill/>
          <a:ln/>
        </p:spPr>
        <p:txBody>
          <a:bodyPr wrap="square" lIns="0" tIns="0" rIns="0" bIns="0" rtlCol="0" anchor="ctr"/>
          <a:lstStyle/>
          <a:p>
            <a:pPr algn="ctr" indent="0" marL="0">
              <a:buNone/>
            </a:pPr>
            <a:r>
              <a:rPr lang="en-US" sz="1400" b="1" dirty="0">
                <a:solidFill>
                  <a:srgbClr val="FFFFFF"/>
                </a:solidFill>
              </a:rPr>
              <a:t>METHOD</a:t>
            </a:r>
            <a:endParaRPr lang="en-US" sz="1400" dirty="0"/>
          </a:p>
        </p:txBody>
      </p:sp>
      <p:sp>
        <p:nvSpPr>
          <p:cNvPr id="11" name="Shape 9"/>
          <p:cNvSpPr/>
          <p:nvPr/>
        </p:nvSpPr>
        <p:spPr>
          <a:xfrm>
            <a:off x="4709160" y="1444752"/>
            <a:ext cx="4023360" cy="512064"/>
          </a:xfrm>
          <a:prstGeom prst="roundRect">
            <a:avLst>
              <a:gd name="adj" fmla="val 8929"/>
            </a:avLst>
          </a:prstGeom>
          <a:solidFill>
            <a:srgbClr val="FFD0D0"/>
          </a:solidFill>
          <a:ln w="12700">
            <a:solidFill>
              <a:srgbClr val="FF9999"/>
            </a:solidFill>
            <a:prstDash val="solid"/>
          </a:ln>
        </p:spPr>
      </p:sp>
      <p:sp>
        <p:nvSpPr>
          <p:cNvPr id="12" name="Text 10"/>
          <p:cNvSpPr/>
          <p:nvPr/>
        </p:nvSpPr>
        <p:spPr>
          <a:xfrm>
            <a:off x="4709160" y="1444752"/>
            <a:ext cx="4023360" cy="512064"/>
          </a:xfrm>
          <a:prstGeom prst="rect">
            <a:avLst/>
          </a:prstGeom>
          <a:noFill/>
          <a:ln/>
        </p:spPr>
        <p:txBody>
          <a:bodyPr wrap="square" lIns="101600" tIns="101600" rIns="101600" bIns="101600" rtlCol="0" anchor="ctr"/>
          <a:lstStyle/>
          <a:p>
            <a:pPr indent="0" marL="0">
              <a:buNone/>
            </a:pPr>
            <a:r>
              <a:rPr lang="en-US" sz="1250" dirty="0">
                <a:solidFill>
                  <a:srgbClr val="0A0A0A"/>
                </a:solidFill>
                <a:latin typeface="Calibri" pitchFamily="34" charset="0"/>
                <a:ea typeface="Calibri" pitchFamily="34" charset="-122"/>
                <a:cs typeface="Calibri" pitchFamily="34" charset="-120"/>
              </a:rPr>
              <a:t>① Define Naïve &amp; Basic prompt for each scenario</a:t>
            </a:r>
            <a:endParaRPr lang="en-US" sz="1250" dirty="0"/>
          </a:p>
        </p:txBody>
      </p:sp>
      <p:sp>
        <p:nvSpPr>
          <p:cNvPr id="13" name="Shape 11"/>
          <p:cNvSpPr/>
          <p:nvPr/>
        </p:nvSpPr>
        <p:spPr>
          <a:xfrm>
            <a:off x="4709160" y="2066544"/>
            <a:ext cx="4023360" cy="512064"/>
          </a:xfrm>
          <a:prstGeom prst="roundRect">
            <a:avLst>
              <a:gd name="adj" fmla="val 8929"/>
            </a:avLst>
          </a:prstGeom>
          <a:solidFill>
            <a:srgbClr val="FFFFFF"/>
          </a:solidFill>
          <a:ln w="12700">
            <a:solidFill>
              <a:srgbClr val="FF9999"/>
            </a:solidFill>
            <a:prstDash val="solid"/>
          </a:ln>
        </p:spPr>
      </p:sp>
      <p:sp>
        <p:nvSpPr>
          <p:cNvPr id="14" name="Text 12"/>
          <p:cNvSpPr/>
          <p:nvPr/>
        </p:nvSpPr>
        <p:spPr>
          <a:xfrm>
            <a:off x="4709160" y="2066544"/>
            <a:ext cx="4023360" cy="512064"/>
          </a:xfrm>
          <a:prstGeom prst="rect">
            <a:avLst/>
          </a:prstGeom>
          <a:noFill/>
          <a:ln/>
        </p:spPr>
        <p:txBody>
          <a:bodyPr wrap="square" lIns="101600" tIns="101600" rIns="101600" bIns="101600" rtlCol="0" anchor="ctr"/>
          <a:lstStyle/>
          <a:p>
            <a:pPr indent="0" marL="0">
              <a:buNone/>
            </a:pPr>
            <a:r>
              <a:rPr lang="en-US" sz="1250" dirty="0">
                <a:solidFill>
                  <a:srgbClr val="0A0A0A"/>
                </a:solidFill>
                <a:latin typeface="Calibri" pitchFamily="34" charset="0"/>
                <a:ea typeface="Calibri" pitchFamily="34" charset="-122"/>
                <a:cs typeface="Calibri" pitchFamily="34" charset="-120"/>
              </a:rPr>
              <a:t>② Input both prompts into ChatGPT (GPT-4o)</a:t>
            </a:r>
            <a:endParaRPr lang="en-US" sz="1250" dirty="0"/>
          </a:p>
        </p:txBody>
      </p:sp>
      <p:sp>
        <p:nvSpPr>
          <p:cNvPr id="15" name="Shape 13"/>
          <p:cNvSpPr/>
          <p:nvPr/>
        </p:nvSpPr>
        <p:spPr>
          <a:xfrm>
            <a:off x="4709160" y="2688336"/>
            <a:ext cx="4023360" cy="512064"/>
          </a:xfrm>
          <a:prstGeom prst="roundRect">
            <a:avLst>
              <a:gd name="adj" fmla="val 8929"/>
            </a:avLst>
          </a:prstGeom>
          <a:solidFill>
            <a:srgbClr val="FFD0D0"/>
          </a:solidFill>
          <a:ln w="12700">
            <a:solidFill>
              <a:srgbClr val="FF9999"/>
            </a:solidFill>
            <a:prstDash val="solid"/>
          </a:ln>
        </p:spPr>
      </p:sp>
      <p:sp>
        <p:nvSpPr>
          <p:cNvPr id="16" name="Text 14"/>
          <p:cNvSpPr/>
          <p:nvPr/>
        </p:nvSpPr>
        <p:spPr>
          <a:xfrm>
            <a:off x="4709160" y="2688336"/>
            <a:ext cx="4023360" cy="512064"/>
          </a:xfrm>
          <a:prstGeom prst="rect">
            <a:avLst/>
          </a:prstGeom>
          <a:noFill/>
          <a:ln/>
        </p:spPr>
        <p:txBody>
          <a:bodyPr wrap="square" lIns="101600" tIns="101600" rIns="101600" bIns="101600" rtlCol="0" anchor="ctr"/>
          <a:lstStyle/>
          <a:p>
            <a:pPr indent="0" marL="0">
              <a:buNone/>
            </a:pPr>
            <a:r>
              <a:rPr lang="en-US" sz="1250" dirty="0">
                <a:solidFill>
                  <a:srgbClr val="0A0A0A"/>
                </a:solidFill>
                <a:latin typeface="Calibri" pitchFamily="34" charset="0"/>
                <a:ea typeface="Calibri" pitchFamily="34" charset="-122"/>
                <a:cs typeface="Calibri" pitchFamily="34" charset="-120"/>
              </a:rPr>
              <a:t>③ Record &amp; compare outputs side-by-side</a:t>
            </a:r>
            <a:endParaRPr lang="en-US" sz="1250" dirty="0"/>
          </a:p>
        </p:txBody>
      </p:sp>
      <p:sp>
        <p:nvSpPr>
          <p:cNvPr id="17" name="Shape 15"/>
          <p:cNvSpPr/>
          <p:nvPr/>
        </p:nvSpPr>
        <p:spPr>
          <a:xfrm>
            <a:off x="4709160" y="3310128"/>
            <a:ext cx="4023360" cy="512064"/>
          </a:xfrm>
          <a:prstGeom prst="roundRect">
            <a:avLst>
              <a:gd name="adj" fmla="val 8929"/>
            </a:avLst>
          </a:prstGeom>
          <a:solidFill>
            <a:srgbClr val="FFFFFF"/>
          </a:solidFill>
          <a:ln w="12700">
            <a:solidFill>
              <a:srgbClr val="FF9999"/>
            </a:solidFill>
            <a:prstDash val="solid"/>
          </a:ln>
        </p:spPr>
      </p:sp>
      <p:sp>
        <p:nvSpPr>
          <p:cNvPr id="18" name="Text 16"/>
          <p:cNvSpPr/>
          <p:nvPr/>
        </p:nvSpPr>
        <p:spPr>
          <a:xfrm>
            <a:off x="4709160" y="3310128"/>
            <a:ext cx="4023360" cy="512064"/>
          </a:xfrm>
          <a:prstGeom prst="rect">
            <a:avLst/>
          </a:prstGeom>
          <a:noFill/>
          <a:ln/>
        </p:spPr>
        <p:txBody>
          <a:bodyPr wrap="square" lIns="101600" tIns="101600" rIns="101600" bIns="101600" rtlCol="0" anchor="ctr"/>
          <a:lstStyle/>
          <a:p>
            <a:pPr indent="0" marL="0">
              <a:buNone/>
            </a:pPr>
            <a:r>
              <a:rPr lang="en-US" sz="1250" dirty="0">
                <a:solidFill>
                  <a:srgbClr val="0A0A0A"/>
                </a:solidFill>
                <a:latin typeface="Calibri" pitchFamily="34" charset="0"/>
                <a:ea typeface="Calibri" pitchFamily="34" charset="-122"/>
                <a:cs typeface="Calibri" pitchFamily="34" charset="-120"/>
              </a:rPr>
              <a:t>④ Score each on Quality, Accuracy, Depth (1–5)</a:t>
            </a:r>
            <a:endParaRPr lang="en-US" sz="1250" dirty="0"/>
          </a:p>
        </p:txBody>
      </p:sp>
      <p:sp>
        <p:nvSpPr>
          <p:cNvPr id="19" name="Shape 17"/>
          <p:cNvSpPr/>
          <p:nvPr/>
        </p:nvSpPr>
        <p:spPr>
          <a:xfrm>
            <a:off x="4709160" y="3931920"/>
            <a:ext cx="4023360" cy="512064"/>
          </a:xfrm>
          <a:prstGeom prst="roundRect">
            <a:avLst>
              <a:gd name="adj" fmla="val 8929"/>
            </a:avLst>
          </a:prstGeom>
          <a:solidFill>
            <a:srgbClr val="FFD0D0"/>
          </a:solidFill>
          <a:ln w="12700">
            <a:solidFill>
              <a:srgbClr val="FF9999"/>
            </a:solidFill>
            <a:prstDash val="solid"/>
          </a:ln>
        </p:spPr>
      </p:sp>
      <p:sp>
        <p:nvSpPr>
          <p:cNvPr id="20" name="Text 18"/>
          <p:cNvSpPr/>
          <p:nvPr/>
        </p:nvSpPr>
        <p:spPr>
          <a:xfrm>
            <a:off x="4709160" y="3931920"/>
            <a:ext cx="4023360" cy="512064"/>
          </a:xfrm>
          <a:prstGeom prst="rect">
            <a:avLst/>
          </a:prstGeom>
          <a:noFill/>
          <a:ln/>
        </p:spPr>
        <p:txBody>
          <a:bodyPr wrap="square" lIns="101600" tIns="101600" rIns="101600" bIns="101600" rtlCol="0" anchor="ctr"/>
          <a:lstStyle/>
          <a:p>
            <a:pPr indent="0" marL="0">
              <a:buNone/>
            </a:pPr>
            <a:r>
              <a:rPr lang="en-US" sz="1250" dirty="0">
                <a:solidFill>
                  <a:srgbClr val="0A0A0A"/>
                </a:solidFill>
                <a:latin typeface="Calibri" pitchFamily="34" charset="0"/>
                <a:ea typeface="Calibri" pitchFamily="34" charset="-122"/>
                <a:cs typeface="Calibri" pitchFamily="34" charset="-120"/>
              </a:rPr>
              <a:t>⑤ Identify patterns &amp; draw conclusions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0A0A"/>
          </a:solidFill>
          <a:ln w="12700">
            <a:solidFill>
              <a:srgbClr val="0A0A0A"/>
            </a:solidFill>
            <a:prstDash val="solid"/>
          </a:ln>
        </p:spPr>
      </p:sp>
      <p:sp>
        <p:nvSpPr>
          <p:cNvPr id="3" name="Shape 1"/>
          <p:cNvSpPr/>
          <p:nvPr/>
        </p:nvSpPr>
        <p:spPr>
          <a:xfrm>
            <a:off x="0" y="0"/>
            <a:ext cx="640080" cy="777240"/>
          </a:xfrm>
          <a:prstGeom prst="rect">
            <a:avLst/>
          </a:prstGeom>
          <a:solidFill>
            <a:srgbClr val="FF2020"/>
          </a:solidFill>
          <a:ln w="12700">
            <a:solidFill>
              <a:srgbClr val="FF2020"/>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1: Creative Story Writing</a:t>
            </a:r>
            <a:endParaRPr lang="en-US" sz="2200" dirty="0"/>
          </a:p>
        </p:txBody>
      </p:sp>
      <p:sp>
        <p:nvSpPr>
          <p:cNvPr id="6" name="Shape 4"/>
          <p:cNvSpPr/>
          <p:nvPr/>
        </p:nvSpPr>
        <p:spPr>
          <a:xfrm>
            <a:off x="182880" y="868680"/>
            <a:ext cx="4206240" cy="347472"/>
          </a:xfrm>
          <a:prstGeom prst="rect">
            <a:avLst/>
          </a:prstGeom>
          <a:solidFill>
            <a:srgbClr val="CC0000"/>
          </a:solidFill>
          <a:ln w="12700">
            <a:solidFill>
              <a:srgbClr val="CC0000"/>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7A0000"/>
          </a:solidFill>
          <a:ln w="12700">
            <a:solidFill>
              <a:srgbClr val="7A0000"/>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C0000"/>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"Write a story."</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C0000"/>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Once upon a time there was a girl who loved adventure. She went on a journey and found a magical forest. At the end she was happy and learned an important lesson about friendship.</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7A0000"/>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"Write a 200-word short story set in 2075 Chennai. Genre: solarpunk. Protagonist: a 17-year-old solar-grid engineer named Meera. Tone: hopeful. End with a moment of discovery. Audience: teens."</a:t>
            </a:r>
            <a:endParaRPr lang="en-US" sz="1150" dirty="0"/>
          </a:p>
        </p:txBody>
      </p:sp>
      <p:sp>
        <p:nvSpPr>
          <p:cNvPr id="19" name="Shape 17"/>
          <p:cNvSpPr/>
          <p:nvPr/>
        </p:nvSpPr>
        <p:spPr>
          <a:xfrm>
            <a:off x="4892040" y="2103120"/>
            <a:ext cx="3931920" cy="0"/>
          </a:xfrm>
          <a:prstGeom prst="line">
            <a:avLst/>
          </a:prstGeom>
          <a:noFill/>
          <a:ln w="12700">
            <a:solidFill>
              <a:srgbClr val="FFD0D0"/>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7A0000"/>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Meera wiped sweat from her brow as she connected the last photovoltaic node on Marina Beach's floating grid. By 2075, Chennai's coastline had transformed—vertical gardens cascaded down solar towers... 'It's live,' she whispered. The city exhaled. Lights bloomed across Royapuram, and for the first time, Meera felt the hum of a future she had built herself.</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FFF0F0"/>
          </a:solidFill>
          <a:ln w="12700">
            <a:solidFill>
              <a:srgbClr val="FFAAAA"/>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Accuracy: 2/5/5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FFF0F0"/>
          </a:solidFill>
          <a:ln w="12700">
            <a:solidFill>
              <a:srgbClr val="FFAAAA"/>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FFF0F0"/>
          </a:solidFill>
          <a:ln w="12700">
            <a:solidFill>
              <a:srgbClr val="FFAAAA"/>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AAAAAA"/>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0A0A"/>
          </a:solidFill>
          <a:ln w="12700">
            <a:solidFill>
              <a:srgbClr val="0A0A0A"/>
            </a:solidFill>
            <a:prstDash val="solid"/>
          </a:ln>
        </p:spPr>
      </p:sp>
      <p:sp>
        <p:nvSpPr>
          <p:cNvPr id="3" name="Shape 1"/>
          <p:cNvSpPr/>
          <p:nvPr/>
        </p:nvSpPr>
        <p:spPr>
          <a:xfrm>
            <a:off x="0" y="0"/>
            <a:ext cx="640080" cy="777240"/>
          </a:xfrm>
          <a:prstGeom prst="rect">
            <a:avLst/>
          </a:prstGeom>
          <a:solidFill>
            <a:srgbClr val="FF2020"/>
          </a:solidFill>
          <a:ln w="12700">
            <a:solidFill>
              <a:srgbClr val="FF2020"/>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2: Factual Question Answering</a:t>
            </a:r>
            <a:endParaRPr lang="en-US" sz="2200" dirty="0"/>
          </a:p>
        </p:txBody>
      </p:sp>
      <p:sp>
        <p:nvSpPr>
          <p:cNvPr id="6" name="Shape 4"/>
          <p:cNvSpPr/>
          <p:nvPr/>
        </p:nvSpPr>
        <p:spPr>
          <a:xfrm>
            <a:off x="182880" y="868680"/>
            <a:ext cx="4206240" cy="347472"/>
          </a:xfrm>
          <a:prstGeom prst="rect">
            <a:avLst/>
          </a:prstGeom>
          <a:solidFill>
            <a:srgbClr val="CC0000"/>
          </a:solidFill>
          <a:ln w="12700">
            <a:solidFill>
              <a:srgbClr val="CC0000"/>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7A0000"/>
          </a:solidFill>
          <a:ln w="12700">
            <a:solidFill>
              <a:srgbClr val="7A0000"/>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C0000"/>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"Tell me about photosynthesis."</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C0000"/>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Photosynthesis is how plants make food. They use sunlight, water, and carbon dioxide. It happens in the leaves. Chlorophyll is the green pigment that captures sunlight. The plant produces glucose and releases oxygen. It is very important for life on Earth.</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7A0000"/>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"Act as a biology teacher. Explain the two stages of photosynthesis (light-dependent and light-independent reactions) to a Class 11 student. Include the location in the chloroplast, key inputs/outputs, and one analogy. Max 150 words."</a:t>
            </a:r>
            <a:endParaRPr lang="en-US" sz="1150" dirty="0"/>
          </a:p>
        </p:txBody>
      </p:sp>
      <p:sp>
        <p:nvSpPr>
          <p:cNvPr id="19" name="Shape 17"/>
          <p:cNvSpPr/>
          <p:nvPr/>
        </p:nvSpPr>
        <p:spPr>
          <a:xfrm>
            <a:off x="4892040" y="2103120"/>
            <a:ext cx="3931920" cy="0"/>
          </a:xfrm>
          <a:prstGeom prst="line">
            <a:avLst/>
          </a:prstGeom>
          <a:noFill/>
          <a:ln w="12700">
            <a:solidFill>
              <a:srgbClr val="FFD0D0"/>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7A0000"/>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Photosynthesis has two stages: ① Light-Dependent Reactions (Thylakoid membrane) — sunlight splits water (photolysis), releases O₂, and produces ATP &amp; NADPH. ② Calvin Cycle / Light-Independent (Stroma) — ATP &amp; NADPH fix CO₂ into glucose (C₆H₁₂O₆). Analogy: Think of Stage 1 as charging a battery (ATP) and Stage 2 as using that battery to build glucose 'bricks'. Inputs: CO₂, H₂O, light. Output: glucose, O₂.</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FFF0F0"/>
          </a:solidFill>
          <a:ln w="12700">
            <a:solidFill>
              <a:srgbClr val="FFAAAA"/>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Accuracy: 3/5/5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FFF0F0"/>
          </a:solidFill>
          <a:ln w="12700">
            <a:solidFill>
              <a:srgbClr val="FFAAAA"/>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FFF0F0"/>
          </a:solidFill>
          <a:ln w="12700">
            <a:solidFill>
              <a:srgbClr val="FFAAAA"/>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AAAAAA"/>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0A0A"/>
          </a:solidFill>
          <a:ln w="12700">
            <a:solidFill>
              <a:srgbClr val="0A0A0A"/>
            </a:solidFill>
            <a:prstDash val="solid"/>
          </a:ln>
        </p:spPr>
      </p:sp>
      <p:sp>
        <p:nvSpPr>
          <p:cNvPr id="3" name="Shape 1"/>
          <p:cNvSpPr/>
          <p:nvPr/>
        </p:nvSpPr>
        <p:spPr>
          <a:xfrm>
            <a:off x="0" y="0"/>
            <a:ext cx="640080" cy="777240"/>
          </a:xfrm>
          <a:prstGeom prst="rect">
            <a:avLst/>
          </a:prstGeom>
          <a:solidFill>
            <a:srgbClr val="FF2020"/>
          </a:solidFill>
          <a:ln w="12700">
            <a:solidFill>
              <a:srgbClr val="FF2020"/>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3: Article / Concept Summarisation</a:t>
            </a:r>
            <a:endParaRPr lang="en-US" sz="2200" dirty="0"/>
          </a:p>
        </p:txBody>
      </p:sp>
      <p:sp>
        <p:nvSpPr>
          <p:cNvPr id="6" name="Shape 4"/>
          <p:cNvSpPr/>
          <p:nvPr/>
        </p:nvSpPr>
        <p:spPr>
          <a:xfrm>
            <a:off x="182880" y="868680"/>
            <a:ext cx="4206240" cy="347472"/>
          </a:xfrm>
          <a:prstGeom prst="rect">
            <a:avLst/>
          </a:prstGeom>
          <a:solidFill>
            <a:srgbClr val="CC0000"/>
          </a:solidFill>
          <a:ln w="12700">
            <a:solidFill>
              <a:srgbClr val="CC0000"/>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7A0000"/>
          </a:solidFill>
          <a:ln w="12700">
            <a:solidFill>
              <a:srgbClr val="7A0000"/>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C0000"/>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"Summarize machine learning."</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C0000"/>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Machine learning is a type of AI. It uses algorithms to learn from data. It can make predictions. It is used in many industries. There are different types like supervised and unsupervised learning.</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7A0000"/>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"Summarize the concept of Machine Learning in exactly 5 bullet points for a non-technical business executive. Each bullet must be ≤20 words. Focus on: what it is, how it learns, business value, a real example, and one limitation."</a:t>
            </a:r>
            <a:endParaRPr lang="en-US" sz="1150" dirty="0"/>
          </a:p>
        </p:txBody>
      </p:sp>
      <p:sp>
        <p:nvSpPr>
          <p:cNvPr id="19" name="Shape 17"/>
          <p:cNvSpPr/>
          <p:nvPr/>
        </p:nvSpPr>
        <p:spPr>
          <a:xfrm>
            <a:off x="4892040" y="2103120"/>
            <a:ext cx="3931920" cy="0"/>
          </a:xfrm>
          <a:prstGeom prst="line">
            <a:avLst/>
          </a:prstGeom>
          <a:noFill/>
          <a:ln w="12700">
            <a:solidFill>
              <a:srgbClr val="FFD0D0"/>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7A0000"/>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 ML enables computers to learn patterns from data—without being explicitly programmed for each task.</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It improves automatically as it processes more data over time.</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Business value: reduces costs, personalizes customer experiences, and detects fraud in real time.</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Example: Netflix's recommendation engine uses ML to predict what you'll watch next.</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Limitation: ML models can reflect biases present in training data, producing unfair outcomes.</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FFF0F0"/>
          </a:solidFill>
          <a:ln w="12700">
            <a:solidFill>
              <a:srgbClr val="FFAAAA"/>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Accuracy: 3/5/5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FFF0F0"/>
          </a:solidFill>
          <a:ln w="12700">
            <a:solidFill>
              <a:srgbClr val="FFAAAA"/>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FFF0F0"/>
          </a:solidFill>
          <a:ln w="12700">
            <a:solidFill>
              <a:srgbClr val="FFAAAA"/>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AAAAAA"/>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0A0A"/>
          </a:solidFill>
          <a:ln w="12700">
            <a:solidFill>
              <a:srgbClr val="0A0A0A"/>
            </a:solidFill>
            <a:prstDash val="solid"/>
          </a:ln>
        </p:spPr>
      </p:sp>
      <p:sp>
        <p:nvSpPr>
          <p:cNvPr id="3" name="Shape 1"/>
          <p:cNvSpPr/>
          <p:nvPr/>
        </p:nvSpPr>
        <p:spPr>
          <a:xfrm>
            <a:off x="0" y="0"/>
            <a:ext cx="640080" cy="777240"/>
          </a:xfrm>
          <a:prstGeom prst="rect">
            <a:avLst/>
          </a:prstGeom>
          <a:solidFill>
            <a:srgbClr val="FF2020"/>
          </a:solidFill>
          <a:ln w="12700">
            <a:solidFill>
              <a:srgbClr val="FF2020"/>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4: Advice &amp; Recommendations</a:t>
            </a:r>
            <a:endParaRPr lang="en-US" sz="2200" dirty="0"/>
          </a:p>
        </p:txBody>
      </p:sp>
      <p:sp>
        <p:nvSpPr>
          <p:cNvPr id="6" name="Shape 4"/>
          <p:cNvSpPr/>
          <p:nvPr/>
        </p:nvSpPr>
        <p:spPr>
          <a:xfrm>
            <a:off x="182880" y="868680"/>
            <a:ext cx="4206240" cy="347472"/>
          </a:xfrm>
          <a:prstGeom prst="rect">
            <a:avLst/>
          </a:prstGeom>
          <a:solidFill>
            <a:srgbClr val="CC0000"/>
          </a:solidFill>
          <a:ln w="12700">
            <a:solidFill>
              <a:srgbClr val="CC0000"/>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7A0000"/>
          </a:solidFill>
          <a:ln w="12700">
            <a:solidFill>
              <a:srgbClr val="7A0000"/>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C0000"/>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"How do I manage stress?"</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C0000"/>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Try to relax more. Take breaks when you study. Sleep enough. Exercise is good for stress. Talk to friends and family. Avoid too much caffeine and try meditation.</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7A0000"/>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"Act as a certified wellness coach. A 22-year-old engineering student in India experiences chronic stress during exams. Provide 5 evidence-based strategies, each with: strategy name, a 1-sentence explanation, and a practical 5-minute daily action. Tone: motivating."</a:t>
            </a:r>
            <a:endParaRPr lang="en-US" sz="1150" dirty="0"/>
          </a:p>
        </p:txBody>
      </p:sp>
      <p:sp>
        <p:nvSpPr>
          <p:cNvPr id="19" name="Shape 17"/>
          <p:cNvSpPr/>
          <p:nvPr/>
        </p:nvSpPr>
        <p:spPr>
          <a:xfrm>
            <a:off x="4892040" y="2103120"/>
            <a:ext cx="3931920" cy="0"/>
          </a:xfrm>
          <a:prstGeom prst="line">
            <a:avLst/>
          </a:prstGeom>
          <a:noFill/>
          <a:ln w="12700">
            <a:solidFill>
              <a:srgbClr val="FFD0D0"/>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7A0000"/>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① Box Breathing: Activates your parasympathetic system instantly. Action: 4s inhale → 4s hold → 4s exhale × 4 rounds before study.</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② Pomodoro Journaling: Writing externalizes anxiety. Action: After each 25-min session, write 3 sentences about your progress.</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③ Cold Water Face Splash: Triggers dive reflex, slows heart rate. Action: Splash cold water on face for 30 seconds.</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④ 5-minute Walk: Breaks cortisol cycle. Action: Walk outside without your phone after dinner.</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⑤ Gratitude Anchor: Re-frames threat as challenge. Action: Name 3 specific wins from today before sleep.</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FFF0F0"/>
          </a:solidFill>
          <a:ln w="12700">
            <a:solidFill>
              <a:srgbClr val="FFAAAA"/>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Accuracy: 2/5/5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FFF0F0"/>
          </a:solidFill>
          <a:ln w="12700">
            <a:solidFill>
              <a:srgbClr val="FFAAAA"/>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FFF0F0"/>
          </a:solidFill>
          <a:ln w="12700">
            <a:solidFill>
              <a:srgbClr val="FFAAAA"/>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AAAAAA"/>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0A0A"/>
          </a:solidFill>
          <a:ln w="12700">
            <a:solidFill>
              <a:srgbClr val="0A0A0A"/>
            </a:solidFill>
            <a:prstDash val="solid"/>
          </a:ln>
        </p:spPr>
      </p:sp>
      <p:sp>
        <p:nvSpPr>
          <p:cNvPr id="3" name="Shape 1"/>
          <p:cNvSpPr/>
          <p:nvPr/>
        </p:nvSpPr>
        <p:spPr>
          <a:xfrm>
            <a:off x="0" y="0"/>
            <a:ext cx="640080" cy="777240"/>
          </a:xfrm>
          <a:prstGeom prst="rect">
            <a:avLst/>
          </a:prstGeom>
          <a:solidFill>
            <a:srgbClr val="FF2020"/>
          </a:solidFill>
          <a:ln w="12700">
            <a:solidFill>
              <a:srgbClr val="FF2020"/>
            </a:solidFill>
            <a:prstDash val="solid"/>
          </a:ln>
        </p:spPr>
      </p:sp>
      <p:sp>
        <p:nvSpPr>
          <p:cNvPr id="4" name="Text 2"/>
          <p:cNvSpPr/>
          <p:nvPr/>
        </p:nvSpPr>
        <p:spPr>
          <a:xfrm>
            <a:off x="0" y="0"/>
            <a:ext cx="640080" cy="77724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 name="Text 3"/>
          <p:cNvSpPr/>
          <p:nvPr/>
        </p:nvSpPr>
        <p:spPr>
          <a:xfrm>
            <a:off x="685800" y="0"/>
            <a:ext cx="7772400" cy="7772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Scenario 5: Technical Code Explanation</a:t>
            </a:r>
            <a:endParaRPr lang="en-US" sz="2200" dirty="0"/>
          </a:p>
        </p:txBody>
      </p:sp>
      <p:sp>
        <p:nvSpPr>
          <p:cNvPr id="6" name="Shape 4"/>
          <p:cNvSpPr/>
          <p:nvPr/>
        </p:nvSpPr>
        <p:spPr>
          <a:xfrm>
            <a:off x="182880" y="868680"/>
            <a:ext cx="4206240" cy="347472"/>
          </a:xfrm>
          <a:prstGeom prst="rect">
            <a:avLst/>
          </a:prstGeom>
          <a:solidFill>
            <a:srgbClr val="CC0000"/>
          </a:solidFill>
          <a:ln w="12700">
            <a:solidFill>
              <a:srgbClr val="CC0000"/>
            </a:solidFill>
            <a:prstDash val="solid"/>
          </a:ln>
        </p:spPr>
      </p:sp>
      <p:sp>
        <p:nvSpPr>
          <p:cNvPr id="7" name="Text 5"/>
          <p:cNvSpPr/>
          <p:nvPr/>
        </p:nvSpPr>
        <p:spPr>
          <a:xfrm>
            <a:off x="182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NAÏVE PROMPT  →  OUTPUT</a:t>
            </a:r>
            <a:endParaRPr lang="en-US" sz="1150" dirty="0"/>
          </a:p>
        </p:txBody>
      </p:sp>
      <p:sp>
        <p:nvSpPr>
          <p:cNvPr id="8" name="Shape 6"/>
          <p:cNvSpPr/>
          <p:nvPr/>
        </p:nvSpPr>
        <p:spPr>
          <a:xfrm>
            <a:off x="4754880" y="868680"/>
            <a:ext cx="4206240" cy="347472"/>
          </a:xfrm>
          <a:prstGeom prst="rect">
            <a:avLst/>
          </a:prstGeom>
          <a:solidFill>
            <a:srgbClr val="7A0000"/>
          </a:solidFill>
          <a:ln w="12700">
            <a:solidFill>
              <a:srgbClr val="7A0000"/>
            </a:solidFill>
            <a:prstDash val="solid"/>
          </a:ln>
        </p:spPr>
      </p:sp>
      <p:sp>
        <p:nvSpPr>
          <p:cNvPr id="9" name="Text 7"/>
          <p:cNvSpPr/>
          <p:nvPr/>
        </p:nvSpPr>
        <p:spPr>
          <a:xfrm>
            <a:off x="4754880" y="868680"/>
            <a:ext cx="4206240" cy="347472"/>
          </a:xfrm>
          <a:prstGeom prst="rect">
            <a:avLst/>
          </a:prstGeom>
          <a:noFill/>
          <a:ln/>
        </p:spPr>
        <p:txBody>
          <a:bodyPr wrap="square" lIns="0" tIns="0" rIns="0" bIns="0" rtlCol="0" anchor="ctr"/>
          <a:lstStyle/>
          <a:p>
            <a:pPr algn="ctr" indent="0" marL="0">
              <a:buNone/>
            </a:pPr>
            <a:r>
              <a:rPr lang="en-US" sz="1150" b="1" dirty="0">
                <a:solidFill>
                  <a:srgbClr val="FFFFFF"/>
                </a:solidFill>
              </a:rPr>
              <a:t>BASIC PROMPT  →  OUTPUT</a:t>
            </a:r>
            <a:endParaRPr lang="en-US" sz="1150" dirty="0"/>
          </a:p>
        </p:txBody>
      </p:sp>
      <p:sp>
        <p:nvSpPr>
          <p:cNvPr id="10" name="Shape 8"/>
          <p:cNvSpPr/>
          <p:nvPr/>
        </p:nvSpPr>
        <p:spPr>
          <a:xfrm>
            <a:off x="182880" y="1261872"/>
            <a:ext cx="4206240" cy="3291840"/>
          </a:xfrm>
          <a:prstGeom prst="rect">
            <a:avLst/>
          </a:prstGeom>
          <a:solidFill>
            <a:srgbClr val="FFFFFF"/>
          </a:solidFill>
          <a:ln w="19050">
            <a:solidFill>
              <a:srgbClr val="FFCDD2"/>
            </a:solidFill>
            <a:prstDash val="solid"/>
          </a:ln>
          <a:effectLst>
            <a:outerShdw sx="100000" sy="100000" kx="0" ky="0" algn="bl" rotWithShape="0" blurRad="101600" dist="38100" dir="8100000">
              <a:srgbClr val="000000">
                <a:alpha val="13000"/>
              </a:srgbClr>
            </a:outerShdw>
          </a:effectLst>
        </p:spPr>
      </p:sp>
      <p:sp>
        <p:nvSpPr>
          <p:cNvPr id="11" name="Text 9"/>
          <p:cNvSpPr/>
          <p:nvPr/>
        </p:nvSpPr>
        <p:spPr>
          <a:xfrm>
            <a:off x="320040" y="1325880"/>
            <a:ext cx="3931920" cy="256032"/>
          </a:xfrm>
          <a:prstGeom prst="rect">
            <a:avLst/>
          </a:prstGeom>
          <a:noFill/>
          <a:ln/>
        </p:spPr>
        <p:txBody>
          <a:bodyPr wrap="square" rtlCol="0" anchor="ctr"/>
          <a:lstStyle/>
          <a:p>
            <a:pPr indent="0" marL="0">
              <a:buNone/>
            </a:pPr>
            <a:r>
              <a:rPr lang="en-US" sz="1100" b="1" dirty="0">
                <a:solidFill>
                  <a:srgbClr val="CC0000"/>
                </a:solidFill>
              </a:rPr>
              <a:t>Prompt:</a:t>
            </a:r>
            <a:endParaRPr lang="en-US" sz="1100" dirty="0"/>
          </a:p>
        </p:txBody>
      </p:sp>
      <p:sp>
        <p:nvSpPr>
          <p:cNvPr id="12" name="Text 10"/>
          <p:cNvSpPr/>
          <p:nvPr/>
        </p:nvSpPr>
        <p:spPr>
          <a:xfrm>
            <a:off x="320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"Explain recursion."</a:t>
            </a:r>
            <a:endParaRPr lang="en-US" sz="1150" dirty="0"/>
          </a:p>
        </p:txBody>
      </p:sp>
      <p:sp>
        <p:nvSpPr>
          <p:cNvPr id="13" name="Shape 11"/>
          <p:cNvSpPr/>
          <p:nvPr/>
        </p:nvSpPr>
        <p:spPr>
          <a:xfrm>
            <a:off x="320040" y="2103120"/>
            <a:ext cx="3931920" cy="0"/>
          </a:xfrm>
          <a:prstGeom prst="line">
            <a:avLst/>
          </a:prstGeom>
          <a:noFill/>
          <a:ln w="12700">
            <a:solidFill>
              <a:srgbClr val="FFCDD2"/>
            </a:solidFill>
            <a:prstDash val="solid"/>
          </a:ln>
        </p:spPr>
      </p:sp>
      <p:sp>
        <p:nvSpPr>
          <p:cNvPr id="14" name="Text 12"/>
          <p:cNvSpPr/>
          <p:nvPr/>
        </p:nvSpPr>
        <p:spPr>
          <a:xfrm>
            <a:off x="320040" y="2176272"/>
            <a:ext cx="3931920" cy="256032"/>
          </a:xfrm>
          <a:prstGeom prst="rect">
            <a:avLst/>
          </a:prstGeom>
          <a:noFill/>
          <a:ln/>
        </p:spPr>
        <p:txBody>
          <a:bodyPr wrap="square" rtlCol="0" anchor="ctr"/>
          <a:lstStyle/>
          <a:p>
            <a:pPr indent="0" marL="0">
              <a:buNone/>
            </a:pPr>
            <a:r>
              <a:rPr lang="en-US" sz="1100" b="1" dirty="0">
                <a:solidFill>
                  <a:srgbClr val="CC0000"/>
                </a:solidFill>
              </a:rPr>
              <a:t>ChatGPT Output:</a:t>
            </a:r>
            <a:endParaRPr lang="en-US" sz="1100" dirty="0"/>
          </a:p>
        </p:txBody>
      </p:sp>
      <p:sp>
        <p:nvSpPr>
          <p:cNvPr id="15" name="Text 13"/>
          <p:cNvSpPr/>
          <p:nvPr/>
        </p:nvSpPr>
        <p:spPr>
          <a:xfrm>
            <a:off x="320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Recursion is when a function calls itself. It needs a base case to stop. It is used in many algorithms. For example, factorial can be done with recursion. It can be confusing at first.</a:t>
            </a:r>
            <a:endParaRPr lang="en-US" sz="1100" dirty="0"/>
          </a:p>
        </p:txBody>
      </p:sp>
      <p:sp>
        <p:nvSpPr>
          <p:cNvPr id="16" name="Shape 14"/>
          <p:cNvSpPr/>
          <p:nvPr/>
        </p:nvSpPr>
        <p:spPr>
          <a:xfrm>
            <a:off x="4754880" y="1261872"/>
            <a:ext cx="4206240" cy="329184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7" name="Text 15"/>
          <p:cNvSpPr/>
          <p:nvPr/>
        </p:nvSpPr>
        <p:spPr>
          <a:xfrm>
            <a:off x="4892040" y="1325880"/>
            <a:ext cx="3931920" cy="256032"/>
          </a:xfrm>
          <a:prstGeom prst="rect">
            <a:avLst/>
          </a:prstGeom>
          <a:noFill/>
          <a:ln/>
        </p:spPr>
        <p:txBody>
          <a:bodyPr wrap="square" rtlCol="0" anchor="ctr"/>
          <a:lstStyle/>
          <a:p>
            <a:pPr indent="0" marL="0">
              <a:buNone/>
            </a:pPr>
            <a:r>
              <a:rPr lang="en-US" sz="1100" b="1" dirty="0">
                <a:solidFill>
                  <a:srgbClr val="7A0000"/>
                </a:solidFill>
              </a:rPr>
              <a:t>Prompt:</a:t>
            </a:r>
            <a:endParaRPr lang="en-US" sz="1100" dirty="0"/>
          </a:p>
        </p:txBody>
      </p:sp>
      <p:sp>
        <p:nvSpPr>
          <p:cNvPr id="18" name="Text 16"/>
          <p:cNvSpPr/>
          <p:nvPr/>
        </p:nvSpPr>
        <p:spPr>
          <a:xfrm>
            <a:off x="4892040" y="1572768"/>
            <a:ext cx="3931920" cy="502920"/>
          </a:xfrm>
          <a:prstGeom prst="rect">
            <a:avLst/>
          </a:prstGeom>
          <a:noFill/>
          <a:ln/>
        </p:spPr>
        <p:txBody>
          <a:bodyPr wrap="square" rtlCol="0" anchor="ctr"/>
          <a:lstStyle/>
          <a:p>
            <a:pPr indent="0" marL="0">
              <a:buNone/>
            </a:pPr>
            <a:r>
              <a:rPr lang="en-US" sz="1150" i="1" dirty="0">
                <a:solidFill>
                  <a:srgbClr val="333333"/>
                </a:solidFill>
                <a:latin typeface="Calibri" pitchFamily="34" charset="0"/>
                <a:ea typeface="Calibri" pitchFamily="34" charset="-122"/>
                <a:cs typeface="Calibri" pitchFamily="34" charset="-120"/>
              </a:rPr>
              <a:t>"Act as a senior CS tutor. Explain recursion to a first-year CS student with: (1) a plain-English definition, (2) the two mandatory components (base case &amp; recursive case), (3) a Python factorial example with inline comments, and (4) one common mistake beginners make."</a:t>
            </a:r>
            <a:endParaRPr lang="en-US" sz="1150" dirty="0"/>
          </a:p>
        </p:txBody>
      </p:sp>
      <p:sp>
        <p:nvSpPr>
          <p:cNvPr id="19" name="Shape 17"/>
          <p:cNvSpPr/>
          <p:nvPr/>
        </p:nvSpPr>
        <p:spPr>
          <a:xfrm>
            <a:off x="4892040" y="2103120"/>
            <a:ext cx="3931920" cy="0"/>
          </a:xfrm>
          <a:prstGeom prst="line">
            <a:avLst/>
          </a:prstGeom>
          <a:noFill/>
          <a:ln w="12700">
            <a:solidFill>
              <a:srgbClr val="FFD0D0"/>
            </a:solidFill>
            <a:prstDash val="solid"/>
          </a:ln>
        </p:spPr>
      </p:sp>
      <p:sp>
        <p:nvSpPr>
          <p:cNvPr id="20" name="Text 18"/>
          <p:cNvSpPr/>
          <p:nvPr/>
        </p:nvSpPr>
        <p:spPr>
          <a:xfrm>
            <a:off x="4892040" y="2176272"/>
            <a:ext cx="3931920" cy="256032"/>
          </a:xfrm>
          <a:prstGeom prst="rect">
            <a:avLst/>
          </a:prstGeom>
          <a:noFill/>
          <a:ln/>
        </p:spPr>
        <p:txBody>
          <a:bodyPr wrap="square" rtlCol="0" anchor="ctr"/>
          <a:lstStyle/>
          <a:p>
            <a:pPr indent="0" marL="0">
              <a:buNone/>
            </a:pPr>
            <a:r>
              <a:rPr lang="en-US" sz="1100" b="1" dirty="0">
                <a:solidFill>
                  <a:srgbClr val="7A0000"/>
                </a:solidFill>
              </a:rPr>
              <a:t>ChatGPT Output:</a:t>
            </a:r>
            <a:endParaRPr lang="en-US" sz="1100" dirty="0"/>
          </a:p>
        </p:txBody>
      </p:sp>
      <p:sp>
        <p:nvSpPr>
          <p:cNvPr id="21" name="Text 19"/>
          <p:cNvSpPr/>
          <p:nvPr/>
        </p:nvSpPr>
        <p:spPr>
          <a:xfrm>
            <a:off x="4892040" y="2432304"/>
            <a:ext cx="3931920" cy="1993392"/>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Recursion: A function that solves a problem by calling itself on a smaller version of the same problem.</a:t>
            </a:r>
            <a:endParaRPr lang="en-US" sz="1100" dirty="0"/>
          </a:p>
          <a:p>
            <a:pPr indent="0" marL="0">
              <a:buNone/>
            </a:pP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Two components:</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Base Case: The stopping condition (prevents infinite loop)</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Recursive Case: The function calls itself with a simpler input</a:t>
            </a:r>
            <a:endParaRPr lang="en-US" sz="1100" dirty="0"/>
          </a:p>
          <a:p>
            <a:pPr indent="0" marL="0">
              <a:buNone/>
            </a:pP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Python Example:</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def factorial(n):      # e.g. factorial(5)</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xml:space="preserve">  if n == 0:           # BASE CASE: 0! = 1</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xml:space="preserve">    return 1</a:t>
            </a: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 xml:space="preserve">  return n * factorial(n-1)  # RECURSIVE CASE</a:t>
            </a:r>
            <a:endParaRPr lang="en-US" sz="1100" dirty="0"/>
          </a:p>
          <a:p>
            <a:pPr indent="0" marL="0">
              <a:buNone/>
            </a:pPr>
            <a:endParaRPr lang="en-US" sz="1100" dirty="0"/>
          </a:p>
          <a:p>
            <a:pPr indent="0" marL="0">
              <a:buNone/>
            </a:pPr>
            <a:r>
              <a:rPr lang="en-US" sz="1100" dirty="0">
                <a:solidFill>
                  <a:srgbClr val="333333"/>
                </a:solidFill>
                <a:latin typeface="Calibri" pitchFamily="34" charset="0"/>
                <a:ea typeface="Calibri" pitchFamily="34" charset="-122"/>
                <a:cs typeface="Calibri" pitchFamily="34" charset="-120"/>
              </a:rPr>
              <a:t>Common Mistake: Forgetting the base case → causes infinite recursion &amp; stack overflow.</a:t>
            </a:r>
            <a:endParaRPr lang="en-US" sz="1100" dirty="0"/>
          </a:p>
        </p:txBody>
      </p:sp>
      <p:sp>
        <p:nvSpPr>
          <p:cNvPr id="22" name="Shape 20"/>
          <p:cNvSpPr/>
          <p:nvPr/>
        </p:nvSpPr>
        <p:spPr>
          <a:xfrm>
            <a:off x="228600" y="4645152"/>
            <a:ext cx="1280160" cy="384048"/>
          </a:xfrm>
          <a:prstGeom prst="roundRect">
            <a:avLst>
              <a:gd name="adj" fmla="val 11905"/>
            </a:avLst>
          </a:prstGeom>
          <a:solidFill>
            <a:srgbClr val="FFEBEE"/>
          </a:solidFill>
          <a:ln w="12700">
            <a:solidFill>
              <a:srgbClr val="EF9A9A"/>
            </a:solidFill>
            <a:prstDash val="solid"/>
          </a:ln>
        </p:spPr>
      </p:sp>
      <p:sp>
        <p:nvSpPr>
          <p:cNvPr id="23" name="Text 21"/>
          <p:cNvSpPr/>
          <p:nvPr/>
        </p:nvSpPr>
        <p:spPr>
          <a:xfrm>
            <a:off x="22860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Quality: 2/5/5</a:t>
            </a:r>
            <a:endParaRPr lang="en-US" sz="1100" dirty="0"/>
          </a:p>
        </p:txBody>
      </p:sp>
      <p:sp>
        <p:nvSpPr>
          <p:cNvPr id="24" name="Shape 22"/>
          <p:cNvSpPr/>
          <p:nvPr/>
        </p:nvSpPr>
        <p:spPr>
          <a:xfrm>
            <a:off x="4800600" y="4645152"/>
            <a:ext cx="1280160" cy="384048"/>
          </a:xfrm>
          <a:prstGeom prst="roundRect">
            <a:avLst>
              <a:gd name="adj" fmla="val 11905"/>
            </a:avLst>
          </a:prstGeom>
          <a:solidFill>
            <a:srgbClr val="FFF0F0"/>
          </a:solidFill>
          <a:ln w="12700">
            <a:solidFill>
              <a:srgbClr val="FFAAAA"/>
            </a:solidFill>
            <a:prstDash val="solid"/>
          </a:ln>
        </p:spPr>
      </p:sp>
      <p:sp>
        <p:nvSpPr>
          <p:cNvPr id="25" name="Text 23"/>
          <p:cNvSpPr/>
          <p:nvPr/>
        </p:nvSpPr>
        <p:spPr>
          <a:xfrm>
            <a:off x="480060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Quality: 5/5/5</a:t>
            </a:r>
            <a:endParaRPr lang="en-US" sz="1100" dirty="0"/>
          </a:p>
        </p:txBody>
      </p:sp>
      <p:sp>
        <p:nvSpPr>
          <p:cNvPr id="26" name="Shape 24"/>
          <p:cNvSpPr/>
          <p:nvPr/>
        </p:nvSpPr>
        <p:spPr>
          <a:xfrm>
            <a:off x="1645920" y="4645152"/>
            <a:ext cx="1280160" cy="384048"/>
          </a:xfrm>
          <a:prstGeom prst="roundRect">
            <a:avLst>
              <a:gd name="adj" fmla="val 11905"/>
            </a:avLst>
          </a:prstGeom>
          <a:solidFill>
            <a:srgbClr val="FFEBEE"/>
          </a:solidFill>
          <a:ln w="12700">
            <a:solidFill>
              <a:srgbClr val="EF9A9A"/>
            </a:solidFill>
            <a:prstDash val="solid"/>
          </a:ln>
        </p:spPr>
      </p:sp>
      <p:sp>
        <p:nvSpPr>
          <p:cNvPr id="27" name="Text 25"/>
          <p:cNvSpPr/>
          <p:nvPr/>
        </p:nvSpPr>
        <p:spPr>
          <a:xfrm>
            <a:off x="164592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Accuracy: 3/5/5</a:t>
            </a:r>
            <a:endParaRPr lang="en-US" sz="1100" dirty="0"/>
          </a:p>
        </p:txBody>
      </p:sp>
      <p:sp>
        <p:nvSpPr>
          <p:cNvPr id="28" name="Shape 26"/>
          <p:cNvSpPr/>
          <p:nvPr/>
        </p:nvSpPr>
        <p:spPr>
          <a:xfrm>
            <a:off x="6217920" y="4645152"/>
            <a:ext cx="1280160" cy="384048"/>
          </a:xfrm>
          <a:prstGeom prst="roundRect">
            <a:avLst>
              <a:gd name="adj" fmla="val 11905"/>
            </a:avLst>
          </a:prstGeom>
          <a:solidFill>
            <a:srgbClr val="FFF0F0"/>
          </a:solidFill>
          <a:ln w="12700">
            <a:solidFill>
              <a:srgbClr val="FFAAAA"/>
            </a:solidFill>
            <a:prstDash val="solid"/>
          </a:ln>
        </p:spPr>
      </p:sp>
      <p:sp>
        <p:nvSpPr>
          <p:cNvPr id="29" name="Text 27"/>
          <p:cNvSpPr/>
          <p:nvPr/>
        </p:nvSpPr>
        <p:spPr>
          <a:xfrm>
            <a:off x="621792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Accuracy: 5/5/5</a:t>
            </a:r>
            <a:endParaRPr lang="en-US" sz="1100" dirty="0"/>
          </a:p>
        </p:txBody>
      </p:sp>
      <p:sp>
        <p:nvSpPr>
          <p:cNvPr id="30" name="Shape 28"/>
          <p:cNvSpPr/>
          <p:nvPr/>
        </p:nvSpPr>
        <p:spPr>
          <a:xfrm>
            <a:off x="3063240" y="4645152"/>
            <a:ext cx="1280160" cy="384048"/>
          </a:xfrm>
          <a:prstGeom prst="roundRect">
            <a:avLst>
              <a:gd name="adj" fmla="val 11905"/>
            </a:avLst>
          </a:prstGeom>
          <a:solidFill>
            <a:srgbClr val="FFEBEE"/>
          </a:solidFill>
          <a:ln w="12700">
            <a:solidFill>
              <a:srgbClr val="EF9A9A"/>
            </a:solidFill>
            <a:prstDash val="solid"/>
          </a:ln>
        </p:spPr>
      </p:sp>
      <p:sp>
        <p:nvSpPr>
          <p:cNvPr id="31" name="Text 29"/>
          <p:cNvSpPr/>
          <p:nvPr/>
        </p:nvSpPr>
        <p:spPr>
          <a:xfrm>
            <a:off x="3063240" y="4645152"/>
            <a:ext cx="1280160" cy="384048"/>
          </a:xfrm>
          <a:prstGeom prst="rect">
            <a:avLst/>
          </a:prstGeom>
          <a:noFill/>
          <a:ln/>
        </p:spPr>
        <p:txBody>
          <a:bodyPr wrap="square" lIns="0" tIns="0" rIns="0" bIns="0" rtlCol="0" anchor="ctr"/>
          <a:lstStyle/>
          <a:p>
            <a:pPr algn="ctr" indent="0" marL="0">
              <a:buNone/>
            </a:pPr>
            <a:r>
              <a:rPr lang="en-US" sz="1100" b="1" dirty="0">
                <a:solidFill>
                  <a:srgbClr val="CC0000"/>
                </a:solidFill>
              </a:rPr>
              <a:t>Depth: 1/5/5</a:t>
            </a:r>
            <a:endParaRPr lang="en-US" sz="1100" dirty="0"/>
          </a:p>
        </p:txBody>
      </p:sp>
      <p:sp>
        <p:nvSpPr>
          <p:cNvPr id="32" name="Shape 30"/>
          <p:cNvSpPr/>
          <p:nvPr/>
        </p:nvSpPr>
        <p:spPr>
          <a:xfrm>
            <a:off x="7635240" y="4645152"/>
            <a:ext cx="1280160" cy="384048"/>
          </a:xfrm>
          <a:prstGeom prst="roundRect">
            <a:avLst>
              <a:gd name="adj" fmla="val 11905"/>
            </a:avLst>
          </a:prstGeom>
          <a:solidFill>
            <a:srgbClr val="FFF0F0"/>
          </a:solidFill>
          <a:ln w="12700">
            <a:solidFill>
              <a:srgbClr val="FFAAAA"/>
            </a:solidFill>
            <a:prstDash val="solid"/>
          </a:ln>
        </p:spPr>
      </p:sp>
      <p:sp>
        <p:nvSpPr>
          <p:cNvPr id="33" name="Text 31"/>
          <p:cNvSpPr/>
          <p:nvPr/>
        </p:nvSpPr>
        <p:spPr>
          <a:xfrm>
            <a:off x="7635240" y="4645152"/>
            <a:ext cx="1280160" cy="384048"/>
          </a:xfrm>
          <a:prstGeom prst="rect">
            <a:avLst/>
          </a:prstGeom>
          <a:noFill/>
          <a:ln/>
        </p:spPr>
        <p:txBody>
          <a:bodyPr wrap="square" lIns="0" tIns="0" rIns="0" bIns="0" rtlCol="0" anchor="ctr"/>
          <a:lstStyle/>
          <a:p>
            <a:pPr algn="ctr" indent="0" marL="0">
              <a:buNone/>
            </a:pPr>
            <a:r>
              <a:rPr lang="en-US" sz="1100" b="1" dirty="0">
                <a:solidFill>
                  <a:srgbClr val="7A0000"/>
                </a:solidFill>
              </a:rPr>
              <a:t>Depth: 5/5/5</a:t>
            </a:r>
            <a:endParaRPr lang="en-US" sz="1100" dirty="0"/>
          </a:p>
        </p:txBody>
      </p:sp>
      <p:sp>
        <p:nvSpPr>
          <p:cNvPr id="34" name="Shape 32"/>
          <p:cNvSpPr/>
          <p:nvPr/>
        </p:nvSpPr>
        <p:spPr>
          <a:xfrm>
            <a:off x="4462272" y="841248"/>
            <a:ext cx="0" cy="4251960"/>
          </a:xfrm>
          <a:prstGeom prst="line">
            <a:avLst/>
          </a:prstGeom>
          <a:noFill/>
          <a:ln w="15240">
            <a:solidFill>
              <a:srgbClr val="AAAAAA"/>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0A0A"/>
          </a:solidFill>
          <a:ln w="12700">
            <a:solidFill>
              <a:srgbClr val="0A0A0A"/>
            </a:solidFill>
            <a:prstDash val="solid"/>
          </a:ln>
        </p:spPr>
      </p:sp>
      <p:sp>
        <p:nvSpPr>
          <p:cNvPr id="3" name="Text 1"/>
          <p:cNvSpPr/>
          <p:nvPr/>
        </p:nvSpPr>
        <p:spPr>
          <a:xfrm>
            <a:off x="320040" y="0"/>
            <a:ext cx="8503920" cy="74980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Comparative Results Table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64592" y="868680"/>
          <a:ext cx="8814816" cy="914400"/>
        </p:xfrm>
        <a:graphic>
          <a:graphicData uri="http://schemas.openxmlformats.org/drawingml/2006/table">
            <a:tbl>
              <a:tblPr/>
              <a:tblGrid>
                <a:gridCol w="1188720"/>
                <a:gridCol w="1417320"/>
                <a:gridCol w="548640"/>
                <a:gridCol w="640080"/>
                <a:gridCol w="502920"/>
                <a:gridCol w="1600200"/>
                <a:gridCol w="548640"/>
                <a:gridCol w="640080"/>
                <a:gridCol w="502920"/>
              </a:tblGrid>
              <a:tr h="53949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B0001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Naïve Prompt</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CC000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Quality</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CC000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CC000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Depth</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CC000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Basic Prompt</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7A000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Quality</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7A000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7A000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Depth</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7A0000"/>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 Creative Story</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Write a story.</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genre + length + tone</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 Factual Q&amp;A</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Tell me about photosynthesis.</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E651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audience + stages + analogy</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3. Summarisation</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Summarize ML.</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E651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audience + 5 bullets + topics</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4. Advice/Recs</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How to manage stress?</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persona + 5 strategies + actions</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r>
              <a:tr h="539496">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 Code / Technical</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EEF5FF"/>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Explain recursion.</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E651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F3F3"/>
                    </a:solidFill>
                  </a:tcPr>
                </a:tc>
                <a:tc>
                  <a:txBody>
                    <a:bodyPr/>
                    <a:lstStyle/>
                    <a:p>
                      <a:pPr indent="0" marL="0">
                        <a:buNone/>
                      </a:pPr>
                      <a:r>
                        <a:rPr lang="en-US" sz="1100" i="1" dirty="0">
                          <a:solidFill>
                            <a:srgbClr val="000000"/>
                          </a:solidFill>
                          <a:latin typeface="Calibri" pitchFamily="34" charset="0"/>
                          <a:ea typeface="Calibri" pitchFamily="34" charset="-122"/>
                          <a:cs typeface="Calibri" pitchFamily="34" charset="-120"/>
                        </a:rPr>
                        <a:t>Role + components + code + mistakes</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3FFF3"/>
                    </a:solidFill>
                  </a:tcPr>
                </a:tc>
              </a:tr>
              <a:tr h="5394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AVERAGE</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0A0A0A"/>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CDD2"/>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2.0/5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CDD2"/>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2.6/5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CDD2"/>
                    </a:solidFill>
                  </a:tcPr>
                </a:tc>
                <a:tc>
                  <a:txBody>
                    <a:bodyPr/>
                    <a:lstStyle/>
                    <a:p>
                      <a:pPr algn="ctr" indent="0" marL="0">
                        <a:buNone/>
                      </a:pPr>
                      <a:r>
                        <a:rPr lang="en-US" sz="1100" b="1" dirty="0">
                          <a:solidFill>
                            <a:srgbClr val="CC0000"/>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CDD2"/>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D0D0"/>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D0D0"/>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D0D0"/>
                    </a:solidFill>
                  </a:tcPr>
                </a:tc>
                <a:tc>
                  <a:txBody>
                    <a:bodyPr/>
                    <a:lstStyle/>
                    <a:p>
                      <a:pPr algn="ctr" indent="0" marL="0">
                        <a:buNone/>
                      </a:pPr>
                      <a:r>
                        <a:rPr lang="en-US" sz="1100" b="1" dirty="0">
                          <a:solidFill>
                            <a:srgbClr val="7A0000"/>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EEEEEE"/>
                      </a:solidFill>
                      <a:prstDash val="solid"/>
                      <a:round/>
                      <a:headEnd type="none" w="med" len="med"/>
                      <a:tailEnd type="none" w="med" len="med"/>
                    </a:lnL>
                    <a:lnR w="6350" cap="flat" cmpd="sng" algn="ctr">
                      <a:solidFill>
                        <a:srgbClr val="EEEEEE"/>
                      </a:solidFill>
                      <a:prstDash val="solid"/>
                      <a:round/>
                      <a:headEnd type="none" w="med" len="med"/>
                      <a:tailEnd type="none" w="med" len="med"/>
                    </a:lnR>
                    <a:lnT w="6350" cap="flat" cmpd="sng" algn="ctr">
                      <a:solidFill>
                        <a:srgbClr val="EEEEEE"/>
                      </a:solidFill>
                      <a:prstDash val="solid"/>
                      <a:round/>
                      <a:headEnd type="none" w="med" len="med"/>
                      <a:tailEnd type="none" w="med" len="med"/>
                    </a:lnT>
                    <a:lnB w="6350" cap="flat" cmpd="sng" algn="ctr">
                      <a:solidFill>
                        <a:srgbClr val="EEEEEE"/>
                      </a:solidFill>
                      <a:prstDash val="solid"/>
                      <a:round/>
                      <a:headEnd type="none" w="med" len="med"/>
                      <a:tailEnd type="none" w="med" len="med"/>
                    </a:lnB>
                    <a:solidFill>
                      <a:srgbClr val="FFD0D0"/>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B00010"/>
          </a:solidFill>
          <a:ln w="12700">
            <a:solidFill>
              <a:srgbClr val="B00010"/>
            </a:solidFill>
            <a:prstDash val="solid"/>
          </a:ln>
        </p:spPr>
      </p:sp>
      <p:sp>
        <p:nvSpPr>
          <p:cNvPr id="3" name="Text 1"/>
          <p:cNvSpPr/>
          <p:nvPr/>
        </p:nvSpPr>
        <p:spPr>
          <a:xfrm>
            <a:off x="320040" y="0"/>
            <a:ext cx="8503920" cy="74980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Analysis: Impact of Prompt Clarity</a:t>
            </a:r>
            <a:endParaRPr lang="en-US" sz="2600" dirty="0"/>
          </a:p>
        </p:txBody>
      </p:sp>
      <p:graphicFrame>
        <p:nvGraphicFramePr>
          <p:cNvPr id="4" name="Chart 0" descr=""/>
          <p:cNvGraphicFramePr/>
          <p:nvPr/>
        </p:nvGraphicFramePr>
        <p:xfrm>
          <a:off x="182880" y="868680"/>
          <a:ext cx="502920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40680" y="868680"/>
            <a:ext cx="3520440" cy="86868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6" name="Text 3"/>
          <p:cNvSpPr/>
          <p:nvPr/>
        </p:nvSpPr>
        <p:spPr>
          <a:xfrm>
            <a:off x="5468112" y="89611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7" name="Text 4"/>
          <p:cNvSpPr/>
          <p:nvPr/>
        </p:nvSpPr>
        <p:spPr>
          <a:xfrm>
            <a:off x="5943600" y="886968"/>
            <a:ext cx="2971800" cy="292608"/>
          </a:xfrm>
          <a:prstGeom prst="rect">
            <a:avLst/>
          </a:prstGeom>
          <a:noFill/>
          <a:ln/>
        </p:spPr>
        <p:txBody>
          <a:bodyPr wrap="square" rtlCol="0" anchor="ctr"/>
          <a:lstStyle/>
          <a:p>
            <a:pPr indent="0" marL="0">
              <a:buNone/>
            </a:pPr>
            <a:r>
              <a:rPr lang="en-US" sz="1200" b="1" dirty="0">
                <a:solidFill>
                  <a:srgbClr val="0A0A0A"/>
                </a:solidFill>
                <a:latin typeface="Calibri" pitchFamily="34" charset="0"/>
                <a:ea typeface="Calibri" pitchFamily="34" charset="-122"/>
                <a:cs typeface="Calibri" pitchFamily="34" charset="-120"/>
              </a:rPr>
              <a:t>Consistent 2.5× gain</a:t>
            </a:r>
            <a:endParaRPr lang="en-US" sz="1200" dirty="0"/>
          </a:p>
        </p:txBody>
      </p:sp>
      <p:sp>
        <p:nvSpPr>
          <p:cNvPr id="8" name="Text 5"/>
          <p:cNvSpPr/>
          <p:nvPr/>
        </p:nvSpPr>
        <p:spPr>
          <a:xfrm>
            <a:off x="5943600" y="1161288"/>
            <a:ext cx="2971800" cy="530352"/>
          </a:xfrm>
          <a:prstGeom prst="rect">
            <a:avLst/>
          </a:prstGeom>
          <a:noFill/>
          <a:ln/>
        </p:spPr>
        <p:txBody>
          <a:bodyPr wrap="square" rtlCol="0" anchor="ctr"/>
          <a:lstStyle/>
          <a:p>
            <a:pPr indent="0" marL="0">
              <a:buNone/>
            </a:pPr>
            <a:r>
              <a:rPr lang="en-US" sz="1050" dirty="0">
                <a:solidFill>
                  <a:srgbClr val="666666"/>
                </a:solidFill>
                <a:latin typeface="Calibri" pitchFamily="34" charset="0"/>
                <a:ea typeface="Calibri" pitchFamily="34" charset="-122"/>
                <a:cs typeface="Calibri" pitchFamily="34" charset="-120"/>
              </a:rPr>
              <a:t>Basic prompts score 5/5 in all scenarios. Naïve prompts average 1.8/5.</a:t>
            </a:r>
            <a:endParaRPr lang="en-US" sz="1050" dirty="0"/>
          </a:p>
        </p:txBody>
      </p:sp>
      <p:sp>
        <p:nvSpPr>
          <p:cNvPr id="9" name="Shape 6"/>
          <p:cNvSpPr/>
          <p:nvPr/>
        </p:nvSpPr>
        <p:spPr>
          <a:xfrm>
            <a:off x="5440680" y="1828800"/>
            <a:ext cx="3520440" cy="86868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0" name="Text 7"/>
          <p:cNvSpPr/>
          <p:nvPr/>
        </p:nvSpPr>
        <p:spPr>
          <a:xfrm>
            <a:off x="5468112" y="185623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1" name="Text 8"/>
          <p:cNvSpPr/>
          <p:nvPr/>
        </p:nvSpPr>
        <p:spPr>
          <a:xfrm>
            <a:off x="5943600" y="1847088"/>
            <a:ext cx="2971800" cy="292608"/>
          </a:xfrm>
          <a:prstGeom prst="rect">
            <a:avLst/>
          </a:prstGeom>
          <a:noFill/>
          <a:ln/>
        </p:spPr>
        <p:txBody>
          <a:bodyPr wrap="square" rtlCol="0" anchor="ctr"/>
          <a:lstStyle/>
          <a:p>
            <a:pPr indent="0" marL="0">
              <a:buNone/>
            </a:pPr>
            <a:r>
              <a:rPr lang="en-US" sz="1200" b="1" dirty="0">
                <a:solidFill>
                  <a:srgbClr val="0A0A0A"/>
                </a:solidFill>
                <a:latin typeface="Calibri" pitchFamily="34" charset="0"/>
                <a:ea typeface="Calibri" pitchFamily="34" charset="-122"/>
                <a:cs typeface="Calibri" pitchFamily="34" charset="-120"/>
              </a:rPr>
              <a:t>Depth gap is widest</a:t>
            </a:r>
            <a:endParaRPr lang="en-US" sz="1200" dirty="0"/>
          </a:p>
        </p:txBody>
      </p:sp>
      <p:sp>
        <p:nvSpPr>
          <p:cNvPr id="12" name="Text 9"/>
          <p:cNvSpPr/>
          <p:nvPr/>
        </p:nvSpPr>
        <p:spPr>
          <a:xfrm>
            <a:off x="5943600" y="2121408"/>
            <a:ext cx="2971800" cy="530352"/>
          </a:xfrm>
          <a:prstGeom prst="rect">
            <a:avLst/>
          </a:prstGeom>
          <a:noFill/>
          <a:ln/>
        </p:spPr>
        <p:txBody>
          <a:bodyPr wrap="square" rtlCol="0" anchor="ctr"/>
          <a:lstStyle/>
          <a:p>
            <a:pPr indent="0" marL="0">
              <a:buNone/>
            </a:pPr>
            <a:r>
              <a:rPr lang="en-US" sz="1050" dirty="0">
                <a:solidFill>
                  <a:srgbClr val="666666"/>
                </a:solidFill>
                <a:latin typeface="Calibri" pitchFamily="34" charset="0"/>
                <a:ea typeface="Calibri" pitchFamily="34" charset="-122"/>
                <a:cs typeface="Calibri" pitchFamily="34" charset="-120"/>
              </a:rPr>
              <a:t>Naïve prompts score 1/5 on depth across all 5 scenarios — the most impactful gap.</a:t>
            </a:r>
            <a:endParaRPr lang="en-US" sz="1050" dirty="0"/>
          </a:p>
        </p:txBody>
      </p:sp>
      <p:sp>
        <p:nvSpPr>
          <p:cNvPr id="13" name="Shape 10"/>
          <p:cNvSpPr/>
          <p:nvPr/>
        </p:nvSpPr>
        <p:spPr>
          <a:xfrm>
            <a:off x="5440680" y="2788920"/>
            <a:ext cx="3520440" cy="86868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4" name="Text 11"/>
          <p:cNvSpPr/>
          <p:nvPr/>
        </p:nvSpPr>
        <p:spPr>
          <a:xfrm>
            <a:off x="5468112" y="281635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5" name="Text 12"/>
          <p:cNvSpPr/>
          <p:nvPr/>
        </p:nvSpPr>
        <p:spPr>
          <a:xfrm>
            <a:off x="5943600" y="2807208"/>
            <a:ext cx="2971800" cy="292608"/>
          </a:xfrm>
          <a:prstGeom prst="rect">
            <a:avLst/>
          </a:prstGeom>
          <a:noFill/>
          <a:ln/>
        </p:spPr>
        <p:txBody>
          <a:bodyPr wrap="square" rtlCol="0" anchor="ctr"/>
          <a:lstStyle/>
          <a:p>
            <a:pPr indent="0" marL="0">
              <a:buNone/>
            </a:pPr>
            <a:r>
              <a:rPr lang="en-US" sz="1200" b="1" dirty="0">
                <a:solidFill>
                  <a:srgbClr val="0A0A0A"/>
                </a:solidFill>
                <a:latin typeface="Calibri" pitchFamily="34" charset="0"/>
                <a:ea typeface="Calibri" pitchFamily="34" charset="-122"/>
                <a:cs typeface="Calibri" pitchFamily="34" charset="-120"/>
              </a:rPr>
              <a:t>Factual tasks fare slightly better</a:t>
            </a:r>
            <a:endParaRPr lang="en-US" sz="1200" dirty="0"/>
          </a:p>
        </p:txBody>
      </p:sp>
      <p:sp>
        <p:nvSpPr>
          <p:cNvPr id="16" name="Text 13"/>
          <p:cNvSpPr/>
          <p:nvPr/>
        </p:nvSpPr>
        <p:spPr>
          <a:xfrm>
            <a:off x="5943600" y="3081528"/>
            <a:ext cx="2971800" cy="530352"/>
          </a:xfrm>
          <a:prstGeom prst="rect">
            <a:avLst/>
          </a:prstGeom>
          <a:noFill/>
          <a:ln/>
        </p:spPr>
        <p:txBody>
          <a:bodyPr wrap="square" rtlCol="0" anchor="ctr"/>
          <a:lstStyle/>
          <a:p>
            <a:pPr indent="0" marL="0">
              <a:buNone/>
            </a:pPr>
            <a:r>
              <a:rPr lang="en-US" sz="1050" dirty="0">
                <a:solidFill>
                  <a:srgbClr val="666666"/>
                </a:solidFill>
                <a:latin typeface="Calibri" pitchFamily="34" charset="0"/>
                <a:ea typeface="Calibri" pitchFamily="34" charset="-122"/>
                <a:cs typeface="Calibri" pitchFamily="34" charset="-120"/>
              </a:rPr>
              <a:t>Naïve factual Q&amp;A scored 3/5 on accuracy — basic knowledge helps, but structure elevates further.</a:t>
            </a:r>
            <a:endParaRPr lang="en-US" sz="1050" dirty="0"/>
          </a:p>
        </p:txBody>
      </p:sp>
      <p:sp>
        <p:nvSpPr>
          <p:cNvPr id="17" name="Shape 14"/>
          <p:cNvSpPr/>
          <p:nvPr/>
        </p:nvSpPr>
        <p:spPr>
          <a:xfrm>
            <a:off x="5440680" y="3749040"/>
            <a:ext cx="3520440" cy="868680"/>
          </a:xfrm>
          <a:prstGeom prst="rect">
            <a:avLst/>
          </a:prstGeom>
          <a:solidFill>
            <a:srgbClr val="FFFFFF"/>
          </a:solidFill>
          <a:ln w="19050">
            <a:solidFill>
              <a:srgbClr val="FFD0D0"/>
            </a:solidFill>
            <a:prstDash val="solid"/>
          </a:ln>
          <a:effectLst>
            <a:outerShdw sx="100000" sy="100000" kx="0" ky="0" algn="bl" rotWithShape="0" blurRad="101600" dist="38100" dir="8100000">
              <a:srgbClr val="000000">
                <a:alpha val="13000"/>
              </a:srgbClr>
            </a:outerShdw>
          </a:effectLst>
        </p:spPr>
      </p:sp>
      <p:sp>
        <p:nvSpPr>
          <p:cNvPr id="18" name="Text 15"/>
          <p:cNvSpPr/>
          <p:nvPr/>
        </p:nvSpPr>
        <p:spPr>
          <a:xfrm>
            <a:off x="5468112" y="377647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9" name="Text 16"/>
          <p:cNvSpPr/>
          <p:nvPr/>
        </p:nvSpPr>
        <p:spPr>
          <a:xfrm>
            <a:off x="5943600" y="3767328"/>
            <a:ext cx="2971800" cy="292608"/>
          </a:xfrm>
          <a:prstGeom prst="rect">
            <a:avLst/>
          </a:prstGeom>
          <a:noFill/>
          <a:ln/>
        </p:spPr>
        <p:txBody>
          <a:bodyPr wrap="square" rtlCol="0" anchor="ctr"/>
          <a:lstStyle/>
          <a:p>
            <a:pPr indent="0" marL="0">
              <a:buNone/>
            </a:pPr>
            <a:r>
              <a:rPr lang="en-US" sz="1200" b="1" dirty="0">
                <a:solidFill>
                  <a:srgbClr val="0A0A0A"/>
                </a:solidFill>
                <a:latin typeface="Calibri" pitchFamily="34" charset="0"/>
                <a:ea typeface="Calibri" pitchFamily="34" charset="-122"/>
                <a:cs typeface="Calibri" pitchFamily="34" charset="-120"/>
              </a:rPr>
              <a:t>Role + Format = key drivers</a:t>
            </a:r>
            <a:endParaRPr lang="en-US" sz="1200" dirty="0"/>
          </a:p>
        </p:txBody>
      </p:sp>
      <p:sp>
        <p:nvSpPr>
          <p:cNvPr id="20" name="Text 17"/>
          <p:cNvSpPr/>
          <p:nvPr/>
        </p:nvSpPr>
        <p:spPr>
          <a:xfrm>
            <a:off x="5943600" y="4041648"/>
            <a:ext cx="2971800" cy="530352"/>
          </a:xfrm>
          <a:prstGeom prst="rect">
            <a:avLst/>
          </a:prstGeom>
          <a:noFill/>
          <a:ln/>
        </p:spPr>
        <p:txBody>
          <a:bodyPr wrap="square" rtlCol="0" anchor="ctr"/>
          <a:lstStyle/>
          <a:p>
            <a:pPr indent="0" marL="0">
              <a:buNone/>
            </a:pPr>
            <a:r>
              <a:rPr lang="en-US" sz="1050" dirty="0">
                <a:solidFill>
                  <a:srgbClr val="666666"/>
                </a:solidFill>
                <a:latin typeface="Calibri" pitchFamily="34" charset="0"/>
                <a:ea typeface="Calibri" pitchFamily="34" charset="-122"/>
                <a:cs typeface="Calibri" pitchFamily="34" charset="-120"/>
              </a:rPr>
              <a:t>Adding 'Act as…' and output format drove the largest single quality jump.</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6583680" y="164592"/>
            <a:ext cx="146304" cy="146304"/>
          </a:xfrm>
          <a:prstGeom prst="ellipse">
            <a:avLst/>
          </a:prstGeom>
          <a:solidFill>
            <a:srgbClr val="CC0018">
              <a:alpha val="28000"/>
            </a:srgbClr>
          </a:solidFill>
          <a:ln w="12700">
            <a:solidFill>
              <a:srgbClr val="CC0018"/>
            </a:solidFill>
            <a:prstDash val="solid"/>
          </a:ln>
        </p:spPr>
      </p:sp>
      <p:sp>
        <p:nvSpPr>
          <p:cNvPr id="3" name="Shape 1"/>
          <p:cNvSpPr/>
          <p:nvPr/>
        </p:nvSpPr>
        <p:spPr>
          <a:xfrm>
            <a:off x="7040880" y="164592"/>
            <a:ext cx="146304" cy="146304"/>
          </a:xfrm>
          <a:prstGeom prst="ellipse">
            <a:avLst/>
          </a:prstGeom>
          <a:solidFill>
            <a:srgbClr val="CC0018">
              <a:alpha val="28000"/>
            </a:srgbClr>
          </a:solidFill>
          <a:ln w="12700">
            <a:solidFill>
              <a:srgbClr val="CC0018"/>
            </a:solidFill>
            <a:prstDash val="solid"/>
          </a:ln>
        </p:spPr>
      </p:sp>
      <p:sp>
        <p:nvSpPr>
          <p:cNvPr id="4" name="Shape 2"/>
          <p:cNvSpPr/>
          <p:nvPr/>
        </p:nvSpPr>
        <p:spPr>
          <a:xfrm>
            <a:off x="7498080" y="164592"/>
            <a:ext cx="146304" cy="146304"/>
          </a:xfrm>
          <a:prstGeom prst="ellipse">
            <a:avLst/>
          </a:prstGeom>
          <a:solidFill>
            <a:srgbClr val="CC0018">
              <a:alpha val="28000"/>
            </a:srgbClr>
          </a:solidFill>
          <a:ln w="12700">
            <a:solidFill>
              <a:srgbClr val="CC0018"/>
            </a:solidFill>
            <a:prstDash val="solid"/>
          </a:ln>
        </p:spPr>
      </p:sp>
      <p:sp>
        <p:nvSpPr>
          <p:cNvPr id="5" name="Shape 3"/>
          <p:cNvSpPr/>
          <p:nvPr/>
        </p:nvSpPr>
        <p:spPr>
          <a:xfrm>
            <a:off x="7955280" y="164592"/>
            <a:ext cx="146304" cy="146304"/>
          </a:xfrm>
          <a:prstGeom prst="ellipse">
            <a:avLst/>
          </a:prstGeom>
          <a:solidFill>
            <a:srgbClr val="CC0018">
              <a:alpha val="28000"/>
            </a:srgbClr>
          </a:solidFill>
          <a:ln w="12700">
            <a:solidFill>
              <a:srgbClr val="CC0018"/>
            </a:solidFill>
            <a:prstDash val="solid"/>
          </a:ln>
        </p:spPr>
      </p:sp>
      <p:sp>
        <p:nvSpPr>
          <p:cNvPr id="6" name="Shape 4"/>
          <p:cNvSpPr/>
          <p:nvPr/>
        </p:nvSpPr>
        <p:spPr>
          <a:xfrm>
            <a:off x="8412480" y="164592"/>
            <a:ext cx="146304" cy="146304"/>
          </a:xfrm>
          <a:prstGeom prst="ellipse">
            <a:avLst/>
          </a:prstGeom>
          <a:solidFill>
            <a:srgbClr val="CC0018">
              <a:alpha val="28000"/>
            </a:srgbClr>
          </a:solidFill>
          <a:ln w="12700">
            <a:solidFill>
              <a:srgbClr val="CC0018"/>
            </a:solidFill>
            <a:prstDash val="solid"/>
          </a:ln>
        </p:spPr>
      </p:sp>
      <p:sp>
        <p:nvSpPr>
          <p:cNvPr id="7" name="Shape 5"/>
          <p:cNvSpPr/>
          <p:nvPr/>
        </p:nvSpPr>
        <p:spPr>
          <a:xfrm>
            <a:off x="6583680" y="621792"/>
            <a:ext cx="146304" cy="146304"/>
          </a:xfrm>
          <a:prstGeom prst="ellipse">
            <a:avLst/>
          </a:prstGeom>
          <a:solidFill>
            <a:srgbClr val="CC0018">
              <a:alpha val="28000"/>
            </a:srgbClr>
          </a:solidFill>
          <a:ln w="12700">
            <a:solidFill>
              <a:srgbClr val="CC0018"/>
            </a:solidFill>
            <a:prstDash val="solid"/>
          </a:ln>
        </p:spPr>
      </p:sp>
      <p:sp>
        <p:nvSpPr>
          <p:cNvPr id="8" name="Shape 6"/>
          <p:cNvSpPr/>
          <p:nvPr/>
        </p:nvSpPr>
        <p:spPr>
          <a:xfrm>
            <a:off x="7040880" y="621792"/>
            <a:ext cx="146304" cy="146304"/>
          </a:xfrm>
          <a:prstGeom prst="ellipse">
            <a:avLst/>
          </a:prstGeom>
          <a:solidFill>
            <a:srgbClr val="CC0018">
              <a:alpha val="28000"/>
            </a:srgbClr>
          </a:solidFill>
          <a:ln w="12700">
            <a:solidFill>
              <a:srgbClr val="CC0018"/>
            </a:solidFill>
            <a:prstDash val="solid"/>
          </a:ln>
        </p:spPr>
      </p:sp>
      <p:sp>
        <p:nvSpPr>
          <p:cNvPr id="9" name="Shape 7"/>
          <p:cNvSpPr/>
          <p:nvPr/>
        </p:nvSpPr>
        <p:spPr>
          <a:xfrm>
            <a:off x="7498080" y="621792"/>
            <a:ext cx="146304" cy="146304"/>
          </a:xfrm>
          <a:prstGeom prst="ellipse">
            <a:avLst/>
          </a:prstGeom>
          <a:solidFill>
            <a:srgbClr val="CC0018">
              <a:alpha val="28000"/>
            </a:srgbClr>
          </a:solidFill>
          <a:ln w="12700">
            <a:solidFill>
              <a:srgbClr val="CC0018"/>
            </a:solidFill>
            <a:prstDash val="solid"/>
          </a:ln>
        </p:spPr>
      </p:sp>
      <p:sp>
        <p:nvSpPr>
          <p:cNvPr id="10" name="Shape 8"/>
          <p:cNvSpPr/>
          <p:nvPr/>
        </p:nvSpPr>
        <p:spPr>
          <a:xfrm>
            <a:off x="7955280" y="621792"/>
            <a:ext cx="146304" cy="146304"/>
          </a:xfrm>
          <a:prstGeom prst="ellipse">
            <a:avLst/>
          </a:prstGeom>
          <a:solidFill>
            <a:srgbClr val="CC0018">
              <a:alpha val="28000"/>
            </a:srgbClr>
          </a:solidFill>
          <a:ln w="12700">
            <a:solidFill>
              <a:srgbClr val="CC0018"/>
            </a:solidFill>
            <a:prstDash val="solid"/>
          </a:ln>
        </p:spPr>
      </p:sp>
      <p:sp>
        <p:nvSpPr>
          <p:cNvPr id="11" name="Shape 9"/>
          <p:cNvSpPr/>
          <p:nvPr/>
        </p:nvSpPr>
        <p:spPr>
          <a:xfrm>
            <a:off x="8412480" y="621792"/>
            <a:ext cx="146304" cy="146304"/>
          </a:xfrm>
          <a:prstGeom prst="ellipse">
            <a:avLst/>
          </a:prstGeom>
          <a:solidFill>
            <a:srgbClr val="CC0018">
              <a:alpha val="28000"/>
            </a:srgbClr>
          </a:solidFill>
          <a:ln w="12700">
            <a:solidFill>
              <a:srgbClr val="CC0018"/>
            </a:solidFill>
            <a:prstDash val="solid"/>
          </a:ln>
        </p:spPr>
      </p:sp>
      <p:sp>
        <p:nvSpPr>
          <p:cNvPr id="12" name="Shape 10"/>
          <p:cNvSpPr/>
          <p:nvPr/>
        </p:nvSpPr>
        <p:spPr>
          <a:xfrm>
            <a:off x="6583680" y="1078992"/>
            <a:ext cx="146304" cy="146304"/>
          </a:xfrm>
          <a:prstGeom prst="ellipse">
            <a:avLst/>
          </a:prstGeom>
          <a:solidFill>
            <a:srgbClr val="CC0018">
              <a:alpha val="28000"/>
            </a:srgbClr>
          </a:solidFill>
          <a:ln w="12700">
            <a:solidFill>
              <a:srgbClr val="CC0018"/>
            </a:solidFill>
            <a:prstDash val="solid"/>
          </a:ln>
        </p:spPr>
      </p:sp>
      <p:sp>
        <p:nvSpPr>
          <p:cNvPr id="13" name="Shape 11"/>
          <p:cNvSpPr/>
          <p:nvPr/>
        </p:nvSpPr>
        <p:spPr>
          <a:xfrm>
            <a:off x="7040880" y="1078992"/>
            <a:ext cx="146304" cy="146304"/>
          </a:xfrm>
          <a:prstGeom prst="ellipse">
            <a:avLst/>
          </a:prstGeom>
          <a:solidFill>
            <a:srgbClr val="CC0018">
              <a:alpha val="28000"/>
            </a:srgbClr>
          </a:solidFill>
          <a:ln w="12700">
            <a:solidFill>
              <a:srgbClr val="CC0018"/>
            </a:solidFill>
            <a:prstDash val="solid"/>
          </a:ln>
        </p:spPr>
      </p:sp>
      <p:sp>
        <p:nvSpPr>
          <p:cNvPr id="14" name="Shape 12"/>
          <p:cNvSpPr/>
          <p:nvPr/>
        </p:nvSpPr>
        <p:spPr>
          <a:xfrm>
            <a:off x="7498080" y="1078992"/>
            <a:ext cx="146304" cy="146304"/>
          </a:xfrm>
          <a:prstGeom prst="ellipse">
            <a:avLst/>
          </a:prstGeom>
          <a:solidFill>
            <a:srgbClr val="CC0018">
              <a:alpha val="28000"/>
            </a:srgbClr>
          </a:solidFill>
          <a:ln w="12700">
            <a:solidFill>
              <a:srgbClr val="CC0018"/>
            </a:solidFill>
            <a:prstDash val="solid"/>
          </a:ln>
        </p:spPr>
      </p:sp>
      <p:sp>
        <p:nvSpPr>
          <p:cNvPr id="15" name="Shape 13"/>
          <p:cNvSpPr/>
          <p:nvPr/>
        </p:nvSpPr>
        <p:spPr>
          <a:xfrm>
            <a:off x="7955280" y="1078992"/>
            <a:ext cx="146304" cy="146304"/>
          </a:xfrm>
          <a:prstGeom prst="ellipse">
            <a:avLst/>
          </a:prstGeom>
          <a:solidFill>
            <a:srgbClr val="CC0018">
              <a:alpha val="28000"/>
            </a:srgbClr>
          </a:solidFill>
          <a:ln w="12700">
            <a:solidFill>
              <a:srgbClr val="CC0018"/>
            </a:solidFill>
            <a:prstDash val="solid"/>
          </a:ln>
        </p:spPr>
      </p:sp>
      <p:sp>
        <p:nvSpPr>
          <p:cNvPr id="16" name="Shape 14"/>
          <p:cNvSpPr/>
          <p:nvPr/>
        </p:nvSpPr>
        <p:spPr>
          <a:xfrm>
            <a:off x="8412480" y="1078992"/>
            <a:ext cx="146304" cy="146304"/>
          </a:xfrm>
          <a:prstGeom prst="ellipse">
            <a:avLst/>
          </a:prstGeom>
          <a:solidFill>
            <a:srgbClr val="CC0018">
              <a:alpha val="28000"/>
            </a:srgbClr>
          </a:solidFill>
          <a:ln w="12700">
            <a:solidFill>
              <a:srgbClr val="CC0018"/>
            </a:solidFill>
            <a:prstDash val="solid"/>
          </a:ln>
        </p:spPr>
      </p:sp>
      <p:sp>
        <p:nvSpPr>
          <p:cNvPr id="17" name="Shape 15"/>
          <p:cNvSpPr/>
          <p:nvPr/>
        </p:nvSpPr>
        <p:spPr>
          <a:xfrm>
            <a:off x="0" y="0"/>
            <a:ext cx="164592" cy="5143500"/>
          </a:xfrm>
          <a:prstGeom prst="rect">
            <a:avLst/>
          </a:prstGeom>
          <a:solidFill>
            <a:srgbClr val="FF2020"/>
          </a:solidFill>
          <a:ln w="12700">
            <a:solidFill>
              <a:srgbClr val="FF2020"/>
            </a:solidFill>
            <a:prstDash val="solid"/>
          </a:ln>
        </p:spPr>
      </p:sp>
      <p:sp>
        <p:nvSpPr>
          <p:cNvPr id="18" name="Text 16"/>
          <p:cNvSpPr/>
          <p:nvPr/>
        </p:nvSpPr>
        <p:spPr>
          <a:xfrm>
            <a:off x="347472" y="164592"/>
            <a:ext cx="841248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Summary &amp; Optimal Prompting Guidelines</a:t>
            </a:r>
            <a:endParaRPr lang="en-US" sz="2600" dirty="0"/>
          </a:p>
        </p:txBody>
      </p:sp>
      <p:sp>
        <p:nvSpPr>
          <p:cNvPr id="19" name="Shape 17"/>
          <p:cNvSpPr/>
          <p:nvPr/>
        </p:nvSpPr>
        <p:spPr>
          <a:xfrm>
            <a:off x="347472" y="960120"/>
            <a:ext cx="5669280" cy="548640"/>
          </a:xfrm>
          <a:prstGeom prst="rect">
            <a:avLst/>
          </a:prstGeom>
          <a:solidFill>
            <a:srgbClr val="B00010">
              <a:alpha val="22000"/>
            </a:srgbClr>
          </a:solidFill>
          <a:ln w="6350">
            <a:solidFill>
              <a:srgbClr val="CC0018"/>
            </a:solidFill>
            <a:prstDash val="solid"/>
          </a:ln>
        </p:spPr>
      </p:sp>
      <p:sp>
        <p:nvSpPr>
          <p:cNvPr id="20" name="Shape 18"/>
          <p:cNvSpPr/>
          <p:nvPr/>
        </p:nvSpPr>
        <p:spPr>
          <a:xfrm>
            <a:off x="347472" y="960120"/>
            <a:ext cx="548640" cy="548640"/>
          </a:xfrm>
          <a:prstGeom prst="ellipse">
            <a:avLst/>
          </a:prstGeom>
          <a:solidFill>
            <a:srgbClr val="FF2020"/>
          </a:solidFill>
          <a:ln w="12700">
            <a:solidFill>
              <a:srgbClr val="FF2020"/>
            </a:solidFill>
            <a:prstDash val="solid"/>
          </a:ln>
        </p:spPr>
      </p:sp>
      <p:sp>
        <p:nvSpPr>
          <p:cNvPr id="21" name="Text 19"/>
          <p:cNvSpPr/>
          <p:nvPr/>
        </p:nvSpPr>
        <p:spPr>
          <a:xfrm>
            <a:off x="347472" y="960120"/>
            <a:ext cx="548640" cy="548640"/>
          </a:xfrm>
          <a:prstGeom prst="rect">
            <a:avLst/>
          </a:prstGeom>
          <a:noFill/>
          <a:ln/>
        </p:spPr>
        <p:txBody>
          <a:bodyPr wrap="square" lIns="0" tIns="0" rIns="0" bIns="0" rtlCol="0" anchor="ctr"/>
          <a:lstStyle/>
          <a:p>
            <a:pPr algn="ctr" indent="0" marL="0">
              <a:buNone/>
            </a:pPr>
            <a:r>
              <a:rPr lang="en-US" sz="1300" b="1" dirty="0">
                <a:solidFill>
                  <a:srgbClr val="0A0A0A"/>
                </a:solidFill>
              </a:rPr>
              <a:t>01</a:t>
            </a:r>
            <a:endParaRPr lang="en-US" sz="1300" dirty="0"/>
          </a:p>
        </p:txBody>
      </p:sp>
      <p:sp>
        <p:nvSpPr>
          <p:cNvPr id="22" name="Text 20"/>
          <p:cNvSpPr/>
          <p:nvPr/>
        </p:nvSpPr>
        <p:spPr>
          <a:xfrm>
            <a:off x="987552" y="96012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Basic prompts outperform naïve prompts in ALL 5 scenarios — no exceptions.</a:t>
            </a:r>
            <a:endParaRPr lang="en-US" sz="1200" dirty="0"/>
          </a:p>
        </p:txBody>
      </p:sp>
      <p:sp>
        <p:nvSpPr>
          <p:cNvPr id="23" name="Shape 21"/>
          <p:cNvSpPr/>
          <p:nvPr/>
        </p:nvSpPr>
        <p:spPr>
          <a:xfrm>
            <a:off x="347472" y="1600200"/>
            <a:ext cx="5669280" cy="548640"/>
          </a:xfrm>
          <a:prstGeom prst="rect">
            <a:avLst/>
          </a:prstGeom>
          <a:solidFill>
            <a:srgbClr val="B00010">
              <a:alpha val="22000"/>
            </a:srgbClr>
          </a:solidFill>
          <a:ln w="6350">
            <a:solidFill>
              <a:srgbClr val="CC0018"/>
            </a:solidFill>
            <a:prstDash val="solid"/>
          </a:ln>
        </p:spPr>
      </p:sp>
      <p:sp>
        <p:nvSpPr>
          <p:cNvPr id="24" name="Shape 22"/>
          <p:cNvSpPr/>
          <p:nvPr/>
        </p:nvSpPr>
        <p:spPr>
          <a:xfrm>
            <a:off x="347472" y="1600200"/>
            <a:ext cx="548640" cy="548640"/>
          </a:xfrm>
          <a:prstGeom prst="ellipse">
            <a:avLst/>
          </a:prstGeom>
          <a:solidFill>
            <a:srgbClr val="FF9999"/>
          </a:solidFill>
          <a:ln w="12700">
            <a:solidFill>
              <a:srgbClr val="FF9999"/>
            </a:solidFill>
            <a:prstDash val="solid"/>
          </a:ln>
        </p:spPr>
      </p:sp>
      <p:sp>
        <p:nvSpPr>
          <p:cNvPr id="25" name="Text 23"/>
          <p:cNvSpPr/>
          <p:nvPr/>
        </p:nvSpPr>
        <p:spPr>
          <a:xfrm>
            <a:off x="347472" y="1600200"/>
            <a:ext cx="548640" cy="548640"/>
          </a:xfrm>
          <a:prstGeom prst="rect">
            <a:avLst/>
          </a:prstGeom>
          <a:noFill/>
          <a:ln/>
        </p:spPr>
        <p:txBody>
          <a:bodyPr wrap="square" lIns="0" tIns="0" rIns="0" bIns="0" rtlCol="0" anchor="ctr"/>
          <a:lstStyle/>
          <a:p>
            <a:pPr algn="ctr" indent="0" marL="0">
              <a:buNone/>
            </a:pPr>
            <a:r>
              <a:rPr lang="en-US" sz="1300" b="1" dirty="0">
                <a:solidFill>
                  <a:srgbClr val="0A0A0A"/>
                </a:solidFill>
              </a:rPr>
              <a:t>02</a:t>
            </a:r>
            <a:endParaRPr lang="en-US" sz="1300" dirty="0"/>
          </a:p>
        </p:txBody>
      </p:sp>
      <p:sp>
        <p:nvSpPr>
          <p:cNvPr id="26" name="Text 24"/>
          <p:cNvSpPr/>
          <p:nvPr/>
        </p:nvSpPr>
        <p:spPr>
          <a:xfrm>
            <a:off x="987552" y="160020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Depth is the most neglected dimension: naïve prompts consistently score 1/5.</a:t>
            </a:r>
            <a:endParaRPr lang="en-US" sz="1200" dirty="0"/>
          </a:p>
        </p:txBody>
      </p:sp>
      <p:sp>
        <p:nvSpPr>
          <p:cNvPr id="27" name="Shape 25"/>
          <p:cNvSpPr/>
          <p:nvPr/>
        </p:nvSpPr>
        <p:spPr>
          <a:xfrm>
            <a:off x="347472" y="2240280"/>
            <a:ext cx="5669280" cy="548640"/>
          </a:xfrm>
          <a:prstGeom prst="rect">
            <a:avLst/>
          </a:prstGeom>
          <a:solidFill>
            <a:srgbClr val="B00010">
              <a:alpha val="22000"/>
            </a:srgbClr>
          </a:solidFill>
          <a:ln w="6350">
            <a:solidFill>
              <a:srgbClr val="CC0018"/>
            </a:solidFill>
            <a:prstDash val="solid"/>
          </a:ln>
        </p:spPr>
      </p:sp>
      <p:sp>
        <p:nvSpPr>
          <p:cNvPr id="28" name="Shape 26"/>
          <p:cNvSpPr/>
          <p:nvPr/>
        </p:nvSpPr>
        <p:spPr>
          <a:xfrm>
            <a:off x="347472" y="2240280"/>
            <a:ext cx="548640" cy="548640"/>
          </a:xfrm>
          <a:prstGeom prst="ellipse">
            <a:avLst/>
          </a:prstGeom>
          <a:solidFill>
            <a:srgbClr val="FFAAAA"/>
          </a:solidFill>
          <a:ln w="12700">
            <a:solidFill>
              <a:srgbClr val="FFAAAA"/>
            </a:solidFill>
            <a:prstDash val="solid"/>
          </a:ln>
        </p:spPr>
      </p:sp>
      <p:sp>
        <p:nvSpPr>
          <p:cNvPr id="29" name="Text 27"/>
          <p:cNvSpPr/>
          <p:nvPr/>
        </p:nvSpPr>
        <p:spPr>
          <a:xfrm>
            <a:off x="347472" y="2240280"/>
            <a:ext cx="548640" cy="548640"/>
          </a:xfrm>
          <a:prstGeom prst="rect">
            <a:avLst/>
          </a:prstGeom>
          <a:noFill/>
          <a:ln/>
        </p:spPr>
        <p:txBody>
          <a:bodyPr wrap="square" lIns="0" tIns="0" rIns="0" bIns="0" rtlCol="0" anchor="ctr"/>
          <a:lstStyle/>
          <a:p>
            <a:pPr algn="ctr" indent="0" marL="0">
              <a:buNone/>
            </a:pPr>
            <a:r>
              <a:rPr lang="en-US" sz="1300" b="1" dirty="0">
                <a:solidFill>
                  <a:srgbClr val="0A0A0A"/>
                </a:solidFill>
              </a:rPr>
              <a:t>03</a:t>
            </a:r>
            <a:endParaRPr lang="en-US" sz="1300" dirty="0"/>
          </a:p>
        </p:txBody>
      </p:sp>
      <p:sp>
        <p:nvSpPr>
          <p:cNvPr id="30" name="Text 28"/>
          <p:cNvSpPr/>
          <p:nvPr/>
        </p:nvSpPr>
        <p:spPr>
          <a:xfrm>
            <a:off x="987552" y="224028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Even simple 'factual' tasks benefit significantly from structured prompts.</a:t>
            </a:r>
            <a:endParaRPr lang="en-US" sz="1200" dirty="0"/>
          </a:p>
        </p:txBody>
      </p:sp>
      <p:sp>
        <p:nvSpPr>
          <p:cNvPr id="31" name="Shape 29"/>
          <p:cNvSpPr/>
          <p:nvPr/>
        </p:nvSpPr>
        <p:spPr>
          <a:xfrm>
            <a:off x="347472" y="2880360"/>
            <a:ext cx="5669280" cy="548640"/>
          </a:xfrm>
          <a:prstGeom prst="rect">
            <a:avLst/>
          </a:prstGeom>
          <a:solidFill>
            <a:srgbClr val="B00010">
              <a:alpha val="22000"/>
            </a:srgbClr>
          </a:solidFill>
          <a:ln w="6350">
            <a:solidFill>
              <a:srgbClr val="CC0018"/>
            </a:solidFill>
            <a:prstDash val="solid"/>
          </a:ln>
        </p:spPr>
      </p:sp>
      <p:sp>
        <p:nvSpPr>
          <p:cNvPr id="32" name="Shape 30"/>
          <p:cNvSpPr/>
          <p:nvPr/>
        </p:nvSpPr>
        <p:spPr>
          <a:xfrm>
            <a:off x="347472" y="2880360"/>
            <a:ext cx="548640" cy="548640"/>
          </a:xfrm>
          <a:prstGeom prst="ellipse">
            <a:avLst/>
          </a:prstGeom>
          <a:solidFill>
            <a:srgbClr val="CE93D8"/>
          </a:solidFill>
          <a:ln w="12700">
            <a:solidFill>
              <a:srgbClr val="CE93D8"/>
            </a:solidFill>
            <a:prstDash val="solid"/>
          </a:ln>
        </p:spPr>
      </p:sp>
      <p:sp>
        <p:nvSpPr>
          <p:cNvPr id="33" name="Text 31"/>
          <p:cNvSpPr/>
          <p:nvPr/>
        </p:nvSpPr>
        <p:spPr>
          <a:xfrm>
            <a:off x="347472" y="2880360"/>
            <a:ext cx="548640" cy="548640"/>
          </a:xfrm>
          <a:prstGeom prst="rect">
            <a:avLst/>
          </a:prstGeom>
          <a:noFill/>
          <a:ln/>
        </p:spPr>
        <p:txBody>
          <a:bodyPr wrap="square" lIns="0" tIns="0" rIns="0" bIns="0" rtlCol="0" anchor="ctr"/>
          <a:lstStyle/>
          <a:p>
            <a:pPr algn="ctr" indent="0" marL="0">
              <a:buNone/>
            </a:pPr>
            <a:r>
              <a:rPr lang="en-US" sz="1300" b="1" dirty="0">
                <a:solidFill>
                  <a:srgbClr val="0A0A0A"/>
                </a:solidFill>
              </a:rPr>
              <a:t>04</a:t>
            </a:r>
            <a:endParaRPr lang="en-US" sz="1300" dirty="0"/>
          </a:p>
        </p:txBody>
      </p:sp>
      <p:sp>
        <p:nvSpPr>
          <p:cNvPr id="34" name="Text 32"/>
          <p:cNvSpPr/>
          <p:nvPr/>
        </p:nvSpPr>
        <p:spPr>
          <a:xfrm>
            <a:off x="987552" y="2880360"/>
            <a:ext cx="4983480" cy="548640"/>
          </a:xfrm>
          <a:prstGeom prst="rect">
            <a:avLst/>
          </a:prstGeom>
          <a:noFill/>
          <a:ln/>
        </p:spPr>
        <p:txBody>
          <a:bodyPr wrap="square" lIns="76200" tIns="76200" rIns="76200" bIns="7620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ChatGPT produces near-perfect output (5/5) when all four RCTF elements are present.</a:t>
            </a:r>
            <a:endParaRPr lang="en-US" sz="1200" dirty="0"/>
          </a:p>
        </p:txBody>
      </p:sp>
      <p:sp>
        <p:nvSpPr>
          <p:cNvPr id="35" name="Shape 33"/>
          <p:cNvSpPr/>
          <p:nvPr/>
        </p:nvSpPr>
        <p:spPr>
          <a:xfrm>
            <a:off x="347472" y="3611880"/>
            <a:ext cx="5669280" cy="1325880"/>
          </a:xfrm>
          <a:prstGeom prst="rect">
            <a:avLst/>
          </a:prstGeom>
          <a:solidFill>
            <a:srgbClr val="FF2020">
              <a:alpha val="12000"/>
            </a:srgbClr>
          </a:solidFill>
          <a:ln w="12700">
            <a:solidFill>
              <a:srgbClr val="FF2020"/>
            </a:solidFill>
            <a:prstDash val="solid"/>
          </a:ln>
        </p:spPr>
      </p:sp>
      <p:sp>
        <p:nvSpPr>
          <p:cNvPr id="36" name="Text 34"/>
          <p:cNvSpPr/>
          <p:nvPr/>
        </p:nvSpPr>
        <p:spPr>
          <a:xfrm>
            <a:off x="457200" y="3639312"/>
            <a:ext cx="5486400" cy="329184"/>
          </a:xfrm>
          <a:prstGeom prst="rect">
            <a:avLst/>
          </a:prstGeom>
          <a:noFill/>
          <a:ln/>
        </p:spPr>
        <p:txBody>
          <a:bodyPr wrap="square" rtlCol="0" anchor="ctr"/>
          <a:lstStyle/>
          <a:p>
            <a:pPr indent="0" marL="0">
              <a:buNone/>
            </a:pPr>
            <a:r>
              <a:rPr lang="en-US" sz="1250" b="1" dirty="0">
                <a:solidFill>
                  <a:srgbClr val="FF2020"/>
                </a:solidFill>
                <a:latin typeface="Calibri" pitchFamily="34" charset="0"/>
                <a:ea typeface="Calibri" pitchFamily="34" charset="-122"/>
                <a:cs typeface="Calibri" pitchFamily="34" charset="-120"/>
              </a:rPr>
              <a:t>THE RCTF FRAMEWORK — Optimal Prompt Structure</a:t>
            </a:r>
            <a:endParaRPr lang="en-US" sz="1250" dirty="0"/>
          </a:p>
        </p:txBody>
      </p:sp>
      <p:sp>
        <p:nvSpPr>
          <p:cNvPr id="37" name="Text 35"/>
          <p:cNvSpPr/>
          <p:nvPr/>
        </p:nvSpPr>
        <p:spPr>
          <a:xfrm>
            <a:off x="457200" y="3977640"/>
            <a:ext cx="5486400" cy="347472"/>
          </a:xfrm>
          <a:prstGeom prst="rect">
            <a:avLst/>
          </a:prstGeom>
          <a:noFill/>
          <a:ln/>
        </p:spPr>
        <p:txBody>
          <a:bodyPr wrap="square" rtlCol="0" anchor="ctr"/>
          <a:lstStyle/>
          <a:p>
            <a:pPr indent="0" marL="0">
              <a:buNone/>
            </a:pPr>
            <a:r>
              <a:rPr lang="en-US" sz="1600" b="1" dirty="0">
                <a:solidFill>
                  <a:srgbClr val="FF2020"/>
                </a:solidFill>
                <a:latin typeface="Calibri" pitchFamily="34" charset="0"/>
                <a:ea typeface="Calibri" pitchFamily="34" charset="-122"/>
                <a:cs typeface="Calibri" pitchFamily="34" charset="-120"/>
              </a:rPr>
              <a:t>R</a:t>
            </a:r>
            <a:pPr indent="0" marL="0">
              <a:buNone/>
            </a:pPr>
            <a:r>
              <a:rPr lang="en-US" sz="1600" dirty="0">
                <a:solidFill>
                  <a:srgbClr val="AAAAAA"/>
                </a:solidFill>
                <a:latin typeface="Calibri" pitchFamily="34" charset="0"/>
                <a:ea typeface="Calibri" pitchFamily="34" charset="-122"/>
                <a:cs typeface="Calibri" pitchFamily="34" charset="-120"/>
              </a:rPr>
              <a:t xml:space="preserve">ole  ·  </a:t>
            </a:r>
            <a:pPr indent="0" marL="0">
              <a:buNone/>
            </a:pPr>
            <a:r>
              <a:rPr lang="en-US" sz="1600" b="1" dirty="0">
                <a:solidFill>
                  <a:srgbClr val="FF9999"/>
                </a:solidFill>
                <a:latin typeface="Calibri" pitchFamily="34" charset="0"/>
                <a:ea typeface="Calibri" pitchFamily="34" charset="-122"/>
                <a:cs typeface="Calibri" pitchFamily="34" charset="-120"/>
              </a:rPr>
              <a:t>C</a:t>
            </a:r>
            <a:pPr indent="0" marL="0">
              <a:buNone/>
            </a:pPr>
            <a:r>
              <a:rPr lang="en-US" sz="1600" dirty="0">
                <a:solidFill>
                  <a:srgbClr val="AAAAAA"/>
                </a:solidFill>
                <a:latin typeface="Calibri" pitchFamily="34" charset="0"/>
                <a:ea typeface="Calibri" pitchFamily="34" charset="-122"/>
                <a:cs typeface="Calibri" pitchFamily="34" charset="-120"/>
              </a:rPr>
              <a:t xml:space="preserve">ontext  ·  </a:t>
            </a:r>
            <a:pPr indent="0" marL="0">
              <a:buNone/>
            </a:pPr>
            <a:r>
              <a:rPr lang="en-US" sz="1600" b="1" dirty="0">
                <a:solidFill>
                  <a:srgbClr val="FFAAAA"/>
                </a:solidFill>
                <a:latin typeface="Calibri" pitchFamily="34" charset="0"/>
                <a:ea typeface="Calibri" pitchFamily="34" charset="-122"/>
                <a:cs typeface="Calibri" pitchFamily="34" charset="-120"/>
              </a:rPr>
              <a:t>T</a:t>
            </a:r>
            <a:pPr indent="0" marL="0">
              <a:buNone/>
            </a:pPr>
            <a:r>
              <a:rPr lang="en-US" sz="1600" dirty="0">
                <a:solidFill>
                  <a:srgbClr val="AAAAAA"/>
                </a:solidFill>
                <a:latin typeface="Calibri" pitchFamily="34" charset="0"/>
                <a:ea typeface="Calibri" pitchFamily="34" charset="-122"/>
                <a:cs typeface="Calibri" pitchFamily="34" charset="-120"/>
              </a:rPr>
              <a:t xml:space="preserve">ask  ·  </a:t>
            </a:r>
            <a:pPr indent="0" marL="0">
              <a:buNone/>
            </a:pPr>
            <a:r>
              <a:rPr lang="en-US" sz="1600" b="1" dirty="0">
                <a:solidFill>
                  <a:srgbClr val="CE93D8"/>
                </a:solidFill>
                <a:latin typeface="Calibri" pitchFamily="34" charset="0"/>
                <a:ea typeface="Calibri" pitchFamily="34" charset="-122"/>
                <a:cs typeface="Calibri" pitchFamily="34" charset="-120"/>
              </a:rPr>
              <a:t>F</a:t>
            </a:r>
            <a:pPr indent="0" marL="0">
              <a:buNone/>
            </a:pPr>
            <a:r>
              <a:rPr lang="en-US" sz="1600" dirty="0">
                <a:solidFill>
                  <a:srgbClr val="AAAAAA"/>
                </a:solidFill>
                <a:latin typeface="Calibri" pitchFamily="34" charset="0"/>
                <a:ea typeface="Calibri" pitchFamily="34" charset="-122"/>
                <a:cs typeface="Calibri" pitchFamily="34" charset="-120"/>
              </a:rPr>
              <a:t>ormat</a:t>
            </a:r>
            <a:endParaRPr lang="en-US" sz="1600" dirty="0"/>
          </a:p>
        </p:txBody>
      </p:sp>
      <p:sp>
        <p:nvSpPr>
          <p:cNvPr id="38" name="Text 36"/>
          <p:cNvSpPr/>
          <p:nvPr/>
        </p:nvSpPr>
        <p:spPr>
          <a:xfrm>
            <a:off x="457200" y="4315968"/>
            <a:ext cx="5486400" cy="512064"/>
          </a:xfrm>
          <a:prstGeom prst="rect">
            <a:avLst/>
          </a:prstGeom>
          <a:noFill/>
          <a:ln/>
        </p:spPr>
        <p:txBody>
          <a:bodyPr wrap="square" rtlCol="0" anchor="ctr"/>
          <a:lstStyle/>
          <a:p>
            <a:pPr indent="0" marL="0">
              <a:buNone/>
            </a:pPr>
            <a:r>
              <a:rPr lang="en-US" sz="1150" i="1" dirty="0">
                <a:solidFill>
                  <a:srgbClr val="999999"/>
                </a:solidFill>
                <a:latin typeface="Calibri" pitchFamily="34" charset="0"/>
                <a:ea typeface="Calibri" pitchFamily="34" charset="-122"/>
                <a:cs typeface="Calibri" pitchFamily="34" charset="-120"/>
              </a:rPr>
              <a:t>The four elements that consistently raised ChatGPT's output from 1–2/5 to 5/5.</a:t>
            </a:r>
            <a:endParaRPr lang="en-US" sz="1150" dirty="0"/>
          </a:p>
        </p:txBody>
      </p:sp>
      <p:sp>
        <p:nvSpPr>
          <p:cNvPr id="39" name="Shape 37"/>
          <p:cNvSpPr/>
          <p:nvPr/>
        </p:nvSpPr>
        <p:spPr>
          <a:xfrm>
            <a:off x="6263640" y="960120"/>
            <a:ext cx="2697480" cy="3977640"/>
          </a:xfrm>
          <a:prstGeom prst="rect">
            <a:avLst/>
          </a:prstGeom>
          <a:solidFill>
            <a:srgbClr val="B00010">
              <a:alpha val="18000"/>
            </a:srgbClr>
          </a:solidFill>
          <a:ln w="12700">
            <a:solidFill>
              <a:srgbClr val="CC0018"/>
            </a:solidFill>
            <a:prstDash val="solid"/>
          </a:ln>
        </p:spPr>
      </p:sp>
      <p:sp>
        <p:nvSpPr>
          <p:cNvPr id="40" name="Text 38"/>
          <p:cNvSpPr/>
          <p:nvPr/>
        </p:nvSpPr>
        <p:spPr>
          <a:xfrm>
            <a:off x="6263640" y="1005840"/>
            <a:ext cx="2697480" cy="658368"/>
          </a:xfrm>
          <a:prstGeom prst="rect">
            <a:avLst/>
          </a:prstGeom>
          <a:noFill/>
          <a:ln/>
        </p:spPr>
        <p:txBody>
          <a:bodyPr wrap="square" rtlCol="0" anchor="ctr"/>
          <a:lstStyle/>
          <a:p>
            <a:pPr algn="ctr" indent="0" marL="0">
              <a:buNone/>
            </a:pPr>
            <a:r>
              <a:rPr lang="en-US" sz="1500" b="1" dirty="0">
                <a:solidFill>
                  <a:srgbClr val="FF2020"/>
                </a:solidFill>
                <a:latin typeface="Calibri" pitchFamily="34" charset="0"/>
                <a:ea typeface="Calibri" pitchFamily="34" charset="-122"/>
                <a:cs typeface="Calibri" pitchFamily="34" charset="-120"/>
              </a:rPr>
              <a:t>KEY</a:t>
            </a:r>
            <a:endParaRPr lang="en-US" sz="1500" dirty="0"/>
          </a:p>
          <a:p>
            <a:pPr algn="ctr" indent="0" marL="0">
              <a:buNone/>
            </a:pPr>
            <a:r>
              <a:rPr lang="en-US" sz="1500" b="1" dirty="0">
                <a:solidFill>
                  <a:srgbClr val="FF2020"/>
                </a:solidFill>
                <a:latin typeface="Calibri" pitchFamily="34" charset="0"/>
                <a:ea typeface="Calibri" pitchFamily="34" charset="-122"/>
                <a:cs typeface="Calibri" pitchFamily="34" charset="-120"/>
              </a:rPr>
              <a:t>TAKEAWAY</a:t>
            </a:r>
            <a:endParaRPr lang="en-US" sz="1500" dirty="0"/>
          </a:p>
        </p:txBody>
      </p:sp>
      <p:sp>
        <p:nvSpPr>
          <p:cNvPr id="41" name="Shape 39"/>
          <p:cNvSpPr/>
          <p:nvPr/>
        </p:nvSpPr>
        <p:spPr>
          <a:xfrm>
            <a:off x="6492240" y="1682496"/>
            <a:ext cx="2240280" cy="0"/>
          </a:xfrm>
          <a:prstGeom prst="line">
            <a:avLst/>
          </a:prstGeom>
          <a:noFill/>
          <a:ln w="19050">
            <a:solidFill>
              <a:srgbClr val="FF2020"/>
            </a:solidFill>
            <a:prstDash val="solid"/>
          </a:ln>
        </p:spPr>
      </p:sp>
      <p:sp>
        <p:nvSpPr>
          <p:cNvPr id="42" name="Text 40"/>
          <p:cNvSpPr/>
          <p:nvPr/>
        </p:nvSpPr>
        <p:spPr>
          <a:xfrm>
            <a:off x="6327648" y="1783080"/>
            <a:ext cx="2542032" cy="3017520"/>
          </a:xfrm>
          <a:prstGeom prst="rect">
            <a:avLst/>
          </a:prstGeom>
          <a:noFill/>
          <a:ln/>
        </p:spPr>
        <p:txBody>
          <a:bodyPr wrap="square" rtlCol="0" anchor="t"/>
          <a:lstStyle/>
          <a:p>
            <a:pPr indent="0" marL="0">
              <a:buNone/>
            </a:pPr>
            <a:r>
              <a:rPr lang="en-US" sz="1150" dirty="0">
                <a:solidFill>
                  <a:srgbClr val="FFD0D0"/>
                </a:solidFill>
                <a:latin typeface="Calibri" pitchFamily="34" charset="0"/>
                <a:ea typeface="Calibri" pitchFamily="34" charset="-122"/>
                <a:cs typeface="Calibri" pitchFamily="34" charset="-120"/>
              </a:rPr>
              <a:t>Prompt engineering is not optional — it is the interface between human intent and AI capability.</a:t>
            </a:r>
            <a:endParaRPr lang="en-US" sz="1150" dirty="0"/>
          </a:p>
          <a:p>
            <a:pPr indent="0" marL="0">
              <a:buNone/>
            </a:pPr>
            <a:endParaRPr lang="en-US" sz="1150" dirty="0"/>
          </a:p>
          <a:p>
            <a:pPr indent="0" marL="0">
              <a:buNone/>
            </a:pPr>
            <a:r>
              <a:rPr lang="en-US" sz="1150" dirty="0">
                <a:solidFill>
                  <a:srgbClr val="FFD0D0"/>
                </a:solidFill>
                <a:latin typeface="Calibri" pitchFamily="34" charset="0"/>
                <a:ea typeface="Calibri" pitchFamily="34" charset="-122"/>
                <a:cs typeface="Calibri" pitchFamily="34" charset="-120"/>
              </a:rPr>
              <a:t>Structured prompts guarantee structured thinking from the model.</a:t>
            </a:r>
            <a:endParaRPr lang="en-US" sz="1150" dirty="0"/>
          </a:p>
          <a:p>
            <a:pPr indent="0" marL="0">
              <a:buNone/>
            </a:pPr>
            <a:endParaRPr lang="en-US" sz="1150" dirty="0"/>
          </a:p>
          <a:p>
            <a:pPr indent="0" marL="0">
              <a:buNone/>
            </a:pPr>
            <a:r>
              <a:rPr lang="en-US" sz="1150" dirty="0">
                <a:solidFill>
                  <a:srgbClr val="FFD0D0"/>
                </a:solidFill>
                <a:latin typeface="Calibri" pitchFamily="34" charset="0"/>
                <a:ea typeface="Calibri" pitchFamily="34" charset="-122"/>
                <a:cs typeface="Calibri" pitchFamily="34" charset="-120"/>
              </a:rPr>
              <a:t>Investing 30 seconds in prompt design saves minutes of editing and rework.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5 – Comparative Analysis of Prompting Patterns</dc:title>
  <dc:subject>PptxGenJS Presentation</dc:subject>
  <dc:creator>PptxGenJS</dc:creator>
  <cp:lastModifiedBy>PptxGenJS</cp:lastModifiedBy>
  <cp:revision>1</cp:revision>
  <dcterms:created xsi:type="dcterms:W3CDTF">2026-05-30T13:37:44Z</dcterms:created>
  <dcterms:modified xsi:type="dcterms:W3CDTF">2026-05-30T13:37:44Z</dcterms:modified>
</cp:coreProperties>
</file>